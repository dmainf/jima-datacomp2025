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3" r:id="rId1"/>
  </p:sldMasterIdLst>
  <p:notesMasterIdLst>
    <p:notesMasterId r:id="rId43"/>
  </p:notesMasterIdLst>
  <p:sldIdLst>
    <p:sldId id="256" r:id="rId2"/>
    <p:sldId id="257" r:id="rId3"/>
    <p:sldId id="259" r:id="rId4"/>
    <p:sldId id="260" r:id="rId5"/>
    <p:sldId id="261" r:id="rId6"/>
    <p:sldId id="263" r:id="rId7"/>
    <p:sldId id="330" r:id="rId8"/>
    <p:sldId id="262" r:id="rId9"/>
    <p:sldId id="311" r:id="rId10"/>
    <p:sldId id="264" r:id="rId11"/>
    <p:sldId id="312" r:id="rId12"/>
    <p:sldId id="323" r:id="rId13"/>
    <p:sldId id="322" r:id="rId14"/>
    <p:sldId id="325" r:id="rId15"/>
    <p:sldId id="265" r:id="rId16"/>
    <p:sldId id="266" r:id="rId17"/>
    <p:sldId id="268" r:id="rId18"/>
    <p:sldId id="314" r:id="rId19"/>
    <p:sldId id="270" r:id="rId20"/>
    <p:sldId id="315" r:id="rId21"/>
    <p:sldId id="272" r:id="rId22"/>
    <p:sldId id="317" r:id="rId23"/>
    <p:sldId id="274" r:id="rId24"/>
    <p:sldId id="328" r:id="rId25"/>
    <p:sldId id="335" r:id="rId26"/>
    <p:sldId id="277" r:id="rId27"/>
    <p:sldId id="331" r:id="rId28"/>
    <p:sldId id="278" r:id="rId29"/>
    <p:sldId id="332" r:id="rId30"/>
    <p:sldId id="341" r:id="rId31"/>
    <p:sldId id="279" r:id="rId32"/>
    <p:sldId id="334" r:id="rId33"/>
    <p:sldId id="340" r:id="rId34"/>
    <p:sldId id="280" r:id="rId35"/>
    <p:sldId id="319" r:id="rId36"/>
    <p:sldId id="281" r:id="rId37"/>
    <p:sldId id="283" r:id="rId38"/>
    <p:sldId id="339" r:id="rId39"/>
    <p:sldId id="336" r:id="rId40"/>
    <p:sldId id="313" r:id="rId41"/>
    <p:sldId id="288" r:id="rId4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53D4F-B0DA-AB49-BE60-449BCC36DAE7}" v="3680" dt="2025-10-07T17:12:22.639"/>
    <p1510:client id="{784E9A8A-A717-3D4B-B146-65ADB9B49094}" v="663" dt="2025-10-08T05:41:08.280"/>
    <p1510:client id="{A2CB08F9-F2A6-5B68-388D-7823EB6D47DB}" v="8" dt="2025-10-07T15:45:49.100"/>
    <p1510:client id="{A396036E-EC39-18C0-5AD6-C6C3002081AF}" v="168" dt="2025-10-07T13:32:04.542"/>
    <p1510:client id="{C484B9EE-158F-4A27-7209-40C5009BD6D7}" v="413" dt="2025-10-07T10:22:01.219"/>
    <p1510:client id="{C9E5EBC9-45B6-4408-BD38-AE4E0B806EB2}" v="258" dt="2025-10-08T04:43:56.620"/>
    <p1510:client id="{D7A77A6B-F78F-465B-91C8-AF141A9B0BC1}" v="1504" dt="2025-10-07T23:44:24.173"/>
    <p1510:client id="{F4D5E4EC-1E8C-3771-4A6F-7B9E92681A18}" v="86" dt="2025-10-07T10:25:59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23"/>
  </p:normalViewPr>
  <p:slideViewPr>
    <p:cSldViewPr snapToGrid="0">
      <p:cViewPr varScale="1">
        <p:scale>
          <a:sx n="102" d="100"/>
          <a:sy n="102" d="100"/>
        </p:scale>
        <p:origin x="184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05:33:42.4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3810 2117,'30'17,"0"10,-13-24,10 24,-23-10,9 13,-10-3,-6 3,-9-2,-3 1,5 0,0 2,-4-2,-3-4,-4-2,-1 0,-2 2,0 0,-2-1,1-3,-1-1,0-1,0-2,1-1,-1-2,-12 2,2-2,9 1,0-3,-9-9,0-2,7 6,1-1,-1-8,-1-3,1-1,-3-1,0-3,8-2,-1-3,0-2,0-5,0-3,1-2,2-3,2-1,-1-2,2 6,-1-2,2 0,1 0,0-10,2-2,0 2,-5 1,-1 0,5-1,8 7,4-2,0 0,-1 0,-4-8,-1 1,3 0,5 7,2 0,1 0,0 1,-1-3,0 1,0-1,0-6,0-2,0 5,0 4,0 2,0-8,0 4,0 7,0 13,0-10,13 24,17-24,4 10,-7 9,3 0,-1-7,2 3,7 10,2 0,-11-6,2-3,-1 3,0 6,0 3,1-3,4-6,0-3,-1 3,-4 6,-1 2,0-1,0-3,1-2,0 2,11 4,-2 0,-13 0,-1 0,11 0,-2 0,0 0,-11 0,-2 0,-5 0,11 0,-23 0,9 0,0 14,4-11,0 24,10-24,-24 24,11-23,-14 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c6f73a0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c6f73a0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8e74daa3a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8e74daa3a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8e74daa3a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8e74daa3a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>
          <a:extLst>
            <a:ext uri="{FF2B5EF4-FFF2-40B4-BE49-F238E27FC236}">
              <a16:creationId xmlns:a16="http://schemas.microsoft.com/office/drawing/2014/main" id="{38EA54B4-3C98-FF96-43E4-3E697CF1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8e74daa3a0_0_26:notes">
            <a:extLst>
              <a:ext uri="{FF2B5EF4-FFF2-40B4-BE49-F238E27FC236}">
                <a16:creationId xmlns:a16="http://schemas.microsoft.com/office/drawing/2014/main" id="{EC3F050B-E020-A1DD-3906-B7D971B39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8e74daa3a0_0_26:notes">
            <a:extLst>
              <a:ext uri="{FF2B5EF4-FFF2-40B4-BE49-F238E27FC236}">
                <a16:creationId xmlns:a16="http://schemas.microsoft.com/office/drawing/2014/main" id="{4E429EC7-0EE4-D38F-08CC-6F83E058C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524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8e74daa3a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8e74daa3a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>
          <a:extLst>
            <a:ext uri="{FF2B5EF4-FFF2-40B4-BE49-F238E27FC236}">
              <a16:creationId xmlns:a16="http://schemas.microsoft.com/office/drawing/2014/main" id="{9A427E7E-8540-A81B-0CF3-E7AD669B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8e74daa3a0_0_21:notes">
            <a:extLst>
              <a:ext uri="{FF2B5EF4-FFF2-40B4-BE49-F238E27FC236}">
                <a16:creationId xmlns:a16="http://schemas.microsoft.com/office/drawing/2014/main" id="{23503D00-0714-4EDF-6C68-17D6F76FD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8e74daa3a0_0_21:notes">
            <a:extLst>
              <a:ext uri="{FF2B5EF4-FFF2-40B4-BE49-F238E27FC236}">
                <a16:creationId xmlns:a16="http://schemas.microsoft.com/office/drawing/2014/main" id="{EA336058-FBA0-B50D-7099-0AE45101D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3621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8e74daa3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8e74daa3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>
          <a:extLst>
            <a:ext uri="{FF2B5EF4-FFF2-40B4-BE49-F238E27FC236}">
              <a16:creationId xmlns:a16="http://schemas.microsoft.com/office/drawing/2014/main" id="{849F6DE8-A407-55B5-3C53-1979FF7A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8e74daa3a0_0_21:notes">
            <a:extLst>
              <a:ext uri="{FF2B5EF4-FFF2-40B4-BE49-F238E27FC236}">
                <a16:creationId xmlns:a16="http://schemas.microsoft.com/office/drawing/2014/main" id="{C68C7954-3DC9-0DAC-8182-B1C6ED0C7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8e74daa3a0_0_21:notes">
            <a:extLst>
              <a:ext uri="{FF2B5EF4-FFF2-40B4-BE49-F238E27FC236}">
                <a16:creationId xmlns:a16="http://schemas.microsoft.com/office/drawing/2014/main" id="{37AEDCAB-201E-D84F-4D3A-62F05A806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335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>
          <a:extLst>
            <a:ext uri="{FF2B5EF4-FFF2-40B4-BE49-F238E27FC236}">
              <a16:creationId xmlns:a16="http://schemas.microsoft.com/office/drawing/2014/main" id="{7283E0B1-2ABA-A174-5528-933F5EE0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8e74daa3a0_0_31:notes">
            <a:extLst>
              <a:ext uri="{FF2B5EF4-FFF2-40B4-BE49-F238E27FC236}">
                <a16:creationId xmlns:a16="http://schemas.microsoft.com/office/drawing/2014/main" id="{D35D6A11-45F3-F564-5DF8-2ED0CFE4E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8e74daa3a0_0_31:notes">
            <a:extLst>
              <a:ext uri="{FF2B5EF4-FFF2-40B4-BE49-F238E27FC236}">
                <a16:creationId xmlns:a16="http://schemas.microsoft.com/office/drawing/2014/main" id="{E3DB9783-B4AE-83E8-4E85-9C6349567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974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>
          <a:extLst>
            <a:ext uri="{FF2B5EF4-FFF2-40B4-BE49-F238E27FC236}">
              <a16:creationId xmlns:a16="http://schemas.microsoft.com/office/drawing/2014/main" id="{E562A04C-E0CC-18A0-83C7-24F2AD44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8e74daa3a0_0_21:notes">
            <a:extLst>
              <a:ext uri="{FF2B5EF4-FFF2-40B4-BE49-F238E27FC236}">
                <a16:creationId xmlns:a16="http://schemas.microsoft.com/office/drawing/2014/main" id="{B909C0C2-9C02-1C96-7BD1-93ACA73A8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8e74daa3a0_0_21:notes">
            <a:extLst>
              <a:ext uri="{FF2B5EF4-FFF2-40B4-BE49-F238E27FC236}">
                <a16:creationId xmlns:a16="http://schemas.microsoft.com/office/drawing/2014/main" id="{073A4846-5E56-7482-890E-B98DC6580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981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D22DB3C5-D45D-0C4A-075E-834C9A46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DEF442D7-999F-3588-987F-424D5EBBC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FDD1633E-7AFF-B3DF-EC55-1D5D55B87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495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88d5f2076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88d5f2076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8939bd4d2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8939bd4d2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8939bd4d2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8939bd4d2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D9FC8AD6-C91E-4E07-CCE9-E29FB3DD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FED53827-1F36-5D51-AF29-C59353C83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5BB45299-4928-02CF-F8ED-A6EF95236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453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88d5f2076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88d5f2076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5B2ED839-59AA-55D1-2A6D-006E6F57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7AE04717-C110-DE26-A092-70EDF2156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8A4420A3-69CB-1229-606C-3850E6DCDE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976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8e74daa3a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38e74daa3a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F2B799D0-4632-0CB3-20F4-4710B213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5B95EA3D-13F5-73B5-028E-0A68F36BD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D2821FE4-5622-F68B-5636-7672624CD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17713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8e74daa3a0_0_1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38e74daa3a0_0_1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6BB10021-3BC3-0F6A-D0DE-5030991C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14BB9010-778E-BFA2-BF14-075ED0C38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0C785491-76C4-30E0-7C47-A5BE00109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267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8e74daa3a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8e74daa3a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>
          <a:extLst>
            <a:ext uri="{FF2B5EF4-FFF2-40B4-BE49-F238E27FC236}">
              <a16:creationId xmlns:a16="http://schemas.microsoft.com/office/drawing/2014/main" id="{5D4A7DED-DDD5-0DBF-68B3-1BBFCCA4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8e74daa3a0_0_46:notes">
            <a:extLst>
              <a:ext uri="{FF2B5EF4-FFF2-40B4-BE49-F238E27FC236}">
                <a16:creationId xmlns:a16="http://schemas.microsoft.com/office/drawing/2014/main" id="{FCA2A608-EFF2-3382-8EF9-42B77CA7A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8e74daa3a0_0_46:notes">
            <a:extLst>
              <a:ext uri="{FF2B5EF4-FFF2-40B4-BE49-F238E27FC236}">
                <a16:creationId xmlns:a16="http://schemas.microsoft.com/office/drawing/2014/main" id="{F3F41144-0B64-C7F9-6197-9074E6C8C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24865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8e74daa3a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8e74daa3a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>
          <a:extLst>
            <a:ext uri="{FF2B5EF4-FFF2-40B4-BE49-F238E27FC236}">
              <a16:creationId xmlns:a16="http://schemas.microsoft.com/office/drawing/2014/main" id="{C5FF55FC-908A-5540-70E2-B6C98B75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8e74daa3a0_0_51:notes">
            <a:extLst>
              <a:ext uri="{FF2B5EF4-FFF2-40B4-BE49-F238E27FC236}">
                <a16:creationId xmlns:a16="http://schemas.microsoft.com/office/drawing/2014/main" id="{9C80C9C9-2F90-AE4D-2276-E88C17A45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8e74daa3a0_0_51:notes">
            <a:extLst>
              <a:ext uri="{FF2B5EF4-FFF2-40B4-BE49-F238E27FC236}">
                <a16:creationId xmlns:a16="http://schemas.microsoft.com/office/drawing/2014/main" id="{D13E3366-845B-DAD1-3F97-31955974C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493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8F7B40DA-925D-8F59-263A-98B906AD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ED49FD09-565E-C560-C8A9-1D3931C1D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B1726149-07D7-1AFE-386D-91AA52D3B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15305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8e74daa3a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8e74daa3a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1850527D-F3F6-BBD3-9672-E4D7B739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54613DED-2364-C947-5D37-145164FCD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66CA9AA3-BA50-506A-00C7-9B6FFF731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200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>
          <a:extLst>
            <a:ext uri="{FF2B5EF4-FFF2-40B4-BE49-F238E27FC236}">
              <a16:creationId xmlns:a16="http://schemas.microsoft.com/office/drawing/2014/main" id="{59174145-8DD4-B28C-C3B6-5B8B75C6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8e74daa3a0_0_56:notes">
            <a:extLst>
              <a:ext uri="{FF2B5EF4-FFF2-40B4-BE49-F238E27FC236}">
                <a16:creationId xmlns:a16="http://schemas.microsoft.com/office/drawing/2014/main" id="{D7F41E62-EB70-953B-BC7C-F5226091C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8e74daa3a0_0_56:notes">
            <a:extLst>
              <a:ext uri="{FF2B5EF4-FFF2-40B4-BE49-F238E27FC236}">
                <a16:creationId xmlns:a16="http://schemas.microsoft.com/office/drawing/2014/main" id="{753EE795-7BE3-7B69-96D1-D6C944B4F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9170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8e74daa3a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8e74daa3a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>
          <a:extLst>
            <a:ext uri="{FF2B5EF4-FFF2-40B4-BE49-F238E27FC236}">
              <a16:creationId xmlns:a16="http://schemas.microsoft.com/office/drawing/2014/main" id="{5C973DD7-A9BD-B0B8-6789-2A02E945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8e74daa3a0_0_1582:notes">
            <a:extLst>
              <a:ext uri="{FF2B5EF4-FFF2-40B4-BE49-F238E27FC236}">
                <a16:creationId xmlns:a16="http://schemas.microsoft.com/office/drawing/2014/main" id="{E3D47959-949B-C2D3-7F66-B8C1C83DC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8e74daa3a0_0_1582:notes">
            <a:extLst>
              <a:ext uri="{FF2B5EF4-FFF2-40B4-BE49-F238E27FC236}">
                <a16:creationId xmlns:a16="http://schemas.microsoft.com/office/drawing/2014/main" id="{CFB2189E-A3AC-8B56-DE2C-62B5AE317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4869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8e74daa3a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38e74daa3a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8e74daa3a0_0_1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8e74daa3a0_0_1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>
          <a:extLst>
            <a:ext uri="{FF2B5EF4-FFF2-40B4-BE49-F238E27FC236}">
              <a16:creationId xmlns:a16="http://schemas.microsoft.com/office/drawing/2014/main" id="{245B7D07-7CA2-C49B-B365-DA4E489A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c6f73a04f_0_36:notes">
            <a:extLst>
              <a:ext uri="{FF2B5EF4-FFF2-40B4-BE49-F238E27FC236}">
                <a16:creationId xmlns:a16="http://schemas.microsoft.com/office/drawing/2014/main" id="{A5D6152F-3840-D6AB-4E08-634D04C40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c6f73a04f_0_36:notes">
            <a:extLst>
              <a:ext uri="{FF2B5EF4-FFF2-40B4-BE49-F238E27FC236}">
                <a16:creationId xmlns:a16="http://schemas.microsoft.com/office/drawing/2014/main" id="{B2839113-A01E-8C01-ACEF-057B1202C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6401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>
          <a:extLst>
            <a:ext uri="{FF2B5EF4-FFF2-40B4-BE49-F238E27FC236}">
              <a16:creationId xmlns:a16="http://schemas.microsoft.com/office/drawing/2014/main" id="{15DD7302-3E79-4D18-F066-18FB9965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8e74daa3a0_0_1593:notes">
            <a:extLst>
              <a:ext uri="{FF2B5EF4-FFF2-40B4-BE49-F238E27FC236}">
                <a16:creationId xmlns:a16="http://schemas.microsoft.com/office/drawing/2014/main" id="{DDD9EB2E-4091-A747-4BF1-E36F26DC0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8e74daa3a0_0_1593:notes">
            <a:extLst>
              <a:ext uri="{FF2B5EF4-FFF2-40B4-BE49-F238E27FC236}">
                <a16:creationId xmlns:a16="http://schemas.microsoft.com/office/drawing/2014/main" id="{10D05377-B032-5EC8-9F49-A09B12895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8696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>
          <a:extLst>
            <a:ext uri="{FF2B5EF4-FFF2-40B4-BE49-F238E27FC236}">
              <a16:creationId xmlns:a16="http://schemas.microsoft.com/office/drawing/2014/main" id="{C735A99C-BAC0-DE6E-A4C9-06937B1E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c6f73a04f_0_9:notes">
            <a:extLst>
              <a:ext uri="{FF2B5EF4-FFF2-40B4-BE49-F238E27FC236}">
                <a16:creationId xmlns:a16="http://schemas.microsoft.com/office/drawing/2014/main" id="{D335DD7E-A8C7-F030-D3A8-F0ADBB5EB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c6f73a04f_0_9:notes">
            <a:extLst>
              <a:ext uri="{FF2B5EF4-FFF2-40B4-BE49-F238E27FC236}">
                <a16:creationId xmlns:a16="http://schemas.microsoft.com/office/drawing/2014/main" id="{86D49D4C-AF35-268C-457E-C379BDD2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5053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c6f73a04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c6f73a04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6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B88DF-B9F9-F607-F1C0-0E1F8B385F12}"/>
              </a:ext>
            </a:extLst>
          </p:cNvPr>
          <p:cNvSpPr/>
          <p:nvPr/>
        </p:nvSpPr>
        <p:spPr>
          <a:xfrm>
            <a:off x="-105818" y="-59483"/>
            <a:ext cx="9355635" cy="54559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32" name="Google Shape;1132;p99"/>
          <p:cNvSpPr txBox="1">
            <a:spLocks noGrp="1"/>
          </p:cNvSpPr>
          <p:nvPr>
            <p:ph type="ctrTitle"/>
          </p:nvPr>
        </p:nvSpPr>
        <p:spPr>
          <a:xfrm>
            <a:off x="390525" y="534178"/>
            <a:ext cx="8222100" cy="22186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データ解析コンペ経過発表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第1週</a:t>
            </a:r>
            <a:endParaRPr/>
          </a:p>
        </p:txBody>
      </p:sp>
      <p:sp>
        <p:nvSpPr>
          <p:cNvPr id="1133" name="Google Shape;1133;p99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1820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Team 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/>
              <a:t>斎藤陽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err="1"/>
              <a:t>奈良原俊</a:t>
            </a:r>
            <a:r>
              <a:rPr lang="ja-JP" altLang="en-US" sz="2400"/>
              <a:t>誠</a:t>
            </a:r>
            <a:endParaRPr lang="en-US" altLang="ja-JP"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/>
              <a:t>橋本智樹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0BFD73-FFF9-7078-36BF-875B0433209F}"/>
              </a:ext>
            </a:extLst>
          </p:cNvPr>
          <p:cNvSpPr/>
          <p:nvPr/>
        </p:nvSpPr>
        <p:spPr>
          <a:xfrm>
            <a:off x="-105818" y="-59483"/>
            <a:ext cx="9355635" cy="54559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38" name="Google Shape;1138;p100"/>
          <p:cNvSpPr txBox="1">
            <a:spLocks noGrp="1"/>
          </p:cNvSpPr>
          <p:nvPr>
            <p:ph type="title"/>
          </p:nvPr>
        </p:nvSpPr>
        <p:spPr>
          <a:xfrm>
            <a:off x="460950" y="563121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目次</a:t>
            </a:r>
            <a:endParaRPr/>
          </a:p>
        </p:txBody>
      </p:sp>
      <p:sp>
        <p:nvSpPr>
          <p:cNvPr id="3" name="Google Shape;1149;p102">
            <a:extLst>
              <a:ext uri="{FF2B5EF4-FFF2-40B4-BE49-F238E27FC236}">
                <a16:creationId xmlns:a16="http://schemas.microsoft.com/office/drawing/2014/main" id="{7AB1CF17-F2EC-F83E-AF03-8812074D2DC6}"/>
              </a:ext>
            </a:extLst>
          </p:cNvPr>
          <p:cNvSpPr txBox="1">
            <a:spLocks/>
          </p:cNvSpPr>
          <p:nvPr/>
        </p:nvSpPr>
        <p:spPr>
          <a:xfrm>
            <a:off x="460949" y="1657350"/>
            <a:ext cx="5771899" cy="3586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</a:pPr>
            <a:r>
              <a:rPr lang="en" sz="2200" b="1">
                <a:solidFill>
                  <a:schemeClr val="bg1"/>
                </a:solidFill>
                <a:latin typeface="+mn-lt"/>
              </a:rPr>
              <a:t>-</a:t>
            </a:r>
            <a:r>
              <a:rPr lang="en" sz="2200" b="1" err="1">
                <a:solidFill>
                  <a:schemeClr val="bg1"/>
                </a:solidFill>
                <a:latin typeface="+mn-lt"/>
              </a:rPr>
              <a:t>データ概要</a:t>
            </a:r>
            <a:endParaRPr lang="en" sz="2200" b="1">
              <a:solidFill>
                <a:schemeClr val="bg1"/>
              </a:solidFill>
              <a:latin typeface="+mn-lt"/>
            </a:endParaRPr>
          </a:p>
          <a:p>
            <a:pPr>
              <a:spcAft>
                <a:spcPts val="1600"/>
              </a:spcAft>
            </a:pPr>
            <a:r>
              <a:rPr lang="en" sz="2200" b="1">
                <a:solidFill>
                  <a:schemeClr val="bg1"/>
                </a:solidFill>
                <a:latin typeface="+mn-lt"/>
              </a:rPr>
              <a:t>-</a:t>
            </a:r>
            <a:r>
              <a:rPr lang="en" sz="2200" b="1" err="1">
                <a:solidFill>
                  <a:schemeClr val="bg1"/>
                </a:solidFill>
                <a:latin typeface="+mn-lt"/>
              </a:rPr>
              <a:t>各カラムの分析</a:t>
            </a:r>
            <a:endParaRPr lang="en" sz="2200" b="1">
              <a:solidFill>
                <a:schemeClr val="bg1"/>
              </a:solidFill>
              <a:latin typeface="+mn-lt"/>
            </a:endParaRPr>
          </a:p>
          <a:p>
            <a:pPr>
              <a:spcAft>
                <a:spcPts val="1600"/>
              </a:spcAft>
            </a:pPr>
            <a:r>
              <a:rPr lang="en" sz="2200" b="1">
                <a:solidFill>
                  <a:schemeClr val="bg1"/>
                </a:solidFill>
                <a:latin typeface="+mn-lt"/>
              </a:rPr>
              <a:t>-</a:t>
            </a:r>
            <a:r>
              <a:rPr lang="en" sz="2200" b="1" err="1">
                <a:solidFill>
                  <a:schemeClr val="bg1"/>
                </a:solidFill>
                <a:latin typeface="+mn-lt"/>
              </a:rPr>
              <a:t>カラムの従属性</a:t>
            </a:r>
            <a:endParaRPr lang="en" sz="2200" b="1">
              <a:solidFill>
                <a:schemeClr val="bg1"/>
              </a:solidFill>
              <a:latin typeface="+mn-lt"/>
            </a:endParaRPr>
          </a:p>
          <a:p>
            <a:pPr>
              <a:spcAft>
                <a:spcPts val="1600"/>
              </a:spcAft>
            </a:pPr>
            <a:r>
              <a:rPr lang="en" sz="2200" b="1">
                <a:solidFill>
                  <a:schemeClr val="bg1"/>
                </a:solidFill>
                <a:latin typeface="+mn-lt"/>
              </a:rPr>
              <a:t>-</a:t>
            </a:r>
            <a:r>
              <a:rPr lang="en" sz="2200" b="1" err="1">
                <a:solidFill>
                  <a:schemeClr val="bg1"/>
                </a:solidFill>
                <a:latin typeface="+mn-lt"/>
              </a:rPr>
              <a:t>今後の方針</a:t>
            </a:r>
            <a:endParaRPr lang="en" sz="2200" b="1">
              <a:solidFill>
                <a:schemeClr val="bg1"/>
              </a:solidFill>
              <a:latin typeface="+mn-lt"/>
            </a:endParaRPr>
          </a:p>
          <a:p>
            <a:pPr>
              <a:spcAft>
                <a:spcPts val="1600"/>
              </a:spcAft>
            </a:pPr>
            <a:r>
              <a:rPr lang="en" sz="2200" b="1">
                <a:solidFill>
                  <a:schemeClr val="bg1"/>
                </a:solidFill>
                <a:latin typeface="+mn-lt"/>
              </a:rPr>
              <a:t>-</a:t>
            </a:r>
            <a:r>
              <a:rPr lang="en" sz="2200" b="1" err="1">
                <a:solidFill>
                  <a:schemeClr val="bg1"/>
                </a:solidFill>
                <a:latin typeface="+mn-lt"/>
              </a:rPr>
              <a:t>疑問点</a:t>
            </a:r>
            <a:endParaRPr lang="en-JP" sz="2200" b="1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EE9F84-6E34-74C8-ED5A-04C5757FA94B}"/>
              </a:ext>
            </a:extLst>
          </p:cNvPr>
          <p:cNvSpPr/>
          <p:nvPr/>
        </p:nvSpPr>
        <p:spPr>
          <a:xfrm>
            <a:off x="-62345" y="-90811"/>
            <a:ext cx="9268690" cy="18168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48" name="Google Shape;1148;p102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err="1"/>
              <a:t>データ概要</a:t>
            </a:r>
            <a:endParaRPr sz="4000" b="1"/>
          </a:p>
        </p:txBody>
      </p:sp>
      <p:sp>
        <p:nvSpPr>
          <p:cNvPr id="1149" name="Google Shape;1149;p102"/>
          <p:cNvSpPr txBox="1">
            <a:spLocks noGrp="1"/>
          </p:cNvSpPr>
          <p:nvPr>
            <p:ph type="body" idx="1"/>
          </p:nvPr>
        </p:nvSpPr>
        <p:spPr>
          <a:xfrm>
            <a:off x="215173" y="2571750"/>
            <a:ext cx="3570738" cy="1428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2200" b="1" err="1">
                <a:solidFill>
                  <a:schemeClr val="accent4">
                    <a:lumMod val="10000"/>
                  </a:schemeClr>
                </a:solidFill>
                <a:latin typeface="+mn-lt"/>
              </a:rPr>
              <a:t>データサイズ</a:t>
            </a:r>
            <a:r>
              <a:rPr lang="en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	</a:t>
            </a:r>
            <a:r>
              <a:rPr lang="en-JP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3,969,881</a:t>
            </a:r>
          </a:p>
          <a:p>
            <a:pPr marL="0" indent="0">
              <a:spcAft>
                <a:spcPts val="1600"/>
              </a:spcAft>
              <a:buNone/>
            </a:pPr>
            <a:r>
              <a:rPr lang="en-JP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カラムサイズ	12</a:t>
            </a:r>
          </a:p>
        </p:txBody>
      </p:sp>
      <p:sp>
        <p:nvSpPr>
          <p:cNvPr id="2" name="Google Shape;1149;p102">
            <a:extLst>
              <a:ext uri="{FF2B5EF4-FFF2-40B4-BE49-F238E27FC236}">
                <a16:creationId xmlns:a16="http://schemas.microsoft.com/office/drawing/2014/main" id="{5F908861-01B2-E903-1405-1C2DFB854719}"/>
              </a:ext>
            </a:extLst>
          </p:cNvPr>
          <p:cNvSpPr txBox="1">
            <a:spLocks/>
          </p:cNvSpPr>
          <p:nvPr/>
        </p:nvSpPr>
        <p:spPr>
          <a:xfrm>
            <a:off x="4697975" y="1650362"/>
            <a:ext cx="4237025" cy="349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endParaRPr lang="en-US" altLang="ja-JP" sz="1600" b="1">
              <a:solidFill>
                <a:schemeClr val="accent4">
                  <a:lumMod val="1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4DCF56-8CEC-0CFB-259B-6511DE7E6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04681"/>
              </p:ext>
            </p:extLst>
          </p:nvPr>
        </p:nvGraphicFramePr>
        <p:xfrm>
          <a:off x="3785911" y="1801727"/>
          <a:ext cx="5149089" cy="3190408"/>
        </p:xfrm>
        <a:graphic>
          <a:graphicData uri="http://schemas.openxmlformats.org/drawingml/2006/table">
            <a:tbl>
              <a:tblPr/>
              <a:tblGrid>
                <a:gridCol w="1716363">
                  <a:extLst>
                    <a:ext uri="{9D8B030D-6E8A-4147-A177-3AD203B41FA5}">
                      <a16:colId xmlns:a16="http://schemas.microsoft.com/office/drawing/2014/main" val="1976395673"/>
                    </a:ext>
                  </a:extLst>
                </a:gridCol>
                <a:gridCol w="1716363">
                  <a:extLst>
                    <a:ext uri="{9D8B030D-6E8A-4147-A177-3AD203B41FA5}">
                      <a16:colId xmlns:a16="http://schemas.microsoft.com/office/drawing/2014/main" val="195225076"/>
                    </a:ext>
                  </a:extLst>
                </a:gridCol>
                <a:gridCol w="1716363">
                  <a:extLst>
                    <a:ext uri="{9D8B030D-6E8A-4147-A177-3AD203B41FA5}">
                      <a16:colId xmlns:a16="http://schemas.microsoft.com/office/drawing/2014/main" val="3455001301"/>
                    </a:ext>
                  </a:extLst>
                </a:gridCol>
              </a:tblGrid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列名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データ型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欠損値の数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082054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Unnamed: 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int64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48557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日付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641734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書店コード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int64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141752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ISBN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057794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出版社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6,753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231457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書名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6,736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230249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著者名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1,331,681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27995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大分類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7,017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990489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中分類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7,017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066221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小分類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object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7,017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368562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本体価格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float64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6,736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576417"/>
                  </a:ext>
                </a:extLst>
              </a:tr>
              <a:tr h="208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POS</a:t>
                      </a:r>
                      <a:r>
                        <a:rPr lang="ja-JP" alt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販売冊数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int64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JP" sz="12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62535" marR="62535" marT="31268" marB="312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47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03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err="1"/>
              <a:t>日付</a:t>
            </a:r>
            <a:endParaRPr sz="4000" b="1"/>
          </a:p>
        </p:txBody>
      </p:sp>
      <p:sp>
        <p:nvSpPr>
          <p:cNvPr id="1156" name="Google Shape;1156;p103"/>
          <p:cNvSpPr txBox="1">
            <a:spLocks noGrp="1"/>
          </p:cNvSpPr>
          <p:nvPr>
            <p:ph type="body" idx="1"/>
          </p:nvPr>
        </p:nvSpPr>
        <p:spPr>
          <a:xfrm>
            <a:off x="5119088" y="1829563"/>
            <a:ext cx="3825000" cy="31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err="1">
                <a:solidFill>
                  <a:srgbClr val="000000"/>
                </a:solidFill>
                <a:latin typeface="+mn-lt"/>
              </a:rPr>
              <a:t>ユニークな数</a:t>
            </a:r>
            <a:r>
              <a:rPr lang="en" sz="2200" b="1">
                <a:solidFill>
                  <a:srgbClr val="000000"/>
                </a:solidFill>
                <a:latin typeface="+mn-lt"/>
              </a:rPr>
              <a:t>		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366</a:t>
            </a:r>
            <a:endParaRPr sz="22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 err="1">
                <a:solidFill>
                  <a:srgbClr val="000000"/>
                </a:solidFill>
                <a:latin typeface="+mn-lt"/>
              </a:rPr>
              <a:t>欠損値の数</a:t>
            </a:r>
            <a:r>
              <a:rPr lang="en" sz="2200" b="1">
                <a:solidFill>
                  <a:srgbClr val="000000"/>
                </a:solidFill>
                <a:latin typeface="+mn-lt"/>
              </a:rPr>
              <a:t>		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0</a:t>
            </a:r>
            <a:endParaRPr sz="22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 err="1">
                <a:solidFill>
                  <a:srgbClr val="000000"/>
                </a:solidFill>
                <a:latin typeface="+mn-lt"/>
              </a:rPr>
              <a:t>欠損値の割合</a:t>
            </a:r>
            <a:r>
              <a:rPr lang="en" sz="2200" b="1">
                <a:solidFill>
                  <a:srgbClr val="000000"/>
                </a:solidFill>
                <a:latin typeface="+mn-lt"/>
              </a:rPr>
              <a:t>		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0</a:t>
            </a:r>
            <a:r>
              <a:rPr lang="en" sz="2200" b="1">
                <a:solidFill>
                  <a:srgbClr val="000000"/>
                </a:solidFill>
                <a:latin typeface="+mn-lt"/>
              </a:rPr>
              <a:t>%</a:t>
            </a:r>
            <a:endParaRPr sz="2200" b="1">
              <a:solidFill>
                <a:srgbClr val="000000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 b="1">
                <a:solidFill>
                  <a:srgbClr val="000000"/>
                </a:solidFill>
                <a:latin typeface="+mn-lt"/>
              </a:rPr>
              <a:t>期間は2024/1/1~12/31</a:t>
            </a:r>
            <a:endParaRPr sz="2200" b="1">
              <a:solidFill>
                <a:srgbClr val="000000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 b="1">
                <a:solidFill>
                  <a:srgbClr val="000000"/>
                </a:solidFill>
                <a:latin typeface="+mn-lt"/>
              </a:rPr>
              <a:t>2024年はうるう年なので366日</a:t>
            </a:r>
            <a:endParaRPr sz="2200" b="1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" name="Picture 2" descr="A graph of blue lines&#10;&#10;AI-generated content may be incorrect.">
            <a:extLst>
              <a:ext uri="{FF2B5EF4-FFF2-40B4-BE49-F238E27FC236}">
                <a16:creationId xmlns:a16="http://schemas.microsoft.com/office/drawing/2014/main" id="{D50D5B60-8971-D872-B977-F411D4F4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2" y="1829575"/>
            <a:ext cx="4869046" cy="3116189"/>
          </a:xfrm>
          <a:prstGeom prst="rect">
            <a:avLst/>
          </a:prstGeom>
        </p:spPr>
      </p:pic>
      <p:sp>
        <p:nvSpPr>
          <p:cNvPr id="1157" name="Google Shape;1157;p103"/>
          <p:cNvSpPr/>
          <p:nvPr/>
        </p:nvSpPr>
        <p:spPr>
          <a:xfrm>
            <a:off x="3199150" y="2809813"/>
            <a:ext cx="755700" cy="1190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56;p103">
            <a:extLst>
              <a:ext uri="{FF2B5EF4-FFF2-40B4-BE49-F238E27FC236}">
                <a16:creationId xmlns:a16="http://schemas.microsoft.com/office/drawing/2014/main" id="{C6DE5241-5377-DEF9-10E5-CE0E5E57B456}"/>
              </a:ext>
            </a:extLst>
          </p:cNvPr>
          <p:cNvSpPr txBox="1">
            <a:spLocks/>
          </p:cNvSpPr>
          <p:nvPr/>
        </p:nvSpPr>
        <p:spPr>
          <a:xfrm>
            <a:off x="3888636" y="803082"/>
            <a:ext cx="4829577" cy="4190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altLang="ja-JP" sz="2200" b="1">
                <a:solidFill>
                  <a:schemeClr val="bg1"/>
                </a:solidFill>
                <a:latin typeface="+mn-lt"/>
              </a:rPr>
              <a:t>1</a:t>
            </a:r>
            <a:r>
              <a:rPr lang="ja-JP" altLang="en-JP" sz="2200" b="1">
                <a:solidFill>
                  <a:schemeClr val="bg1"/>
                </a:solidFill>
                <a:latin typeface="+mn-lt"/>
              </a:rPr>
              <a:t>週間毎の</a:t>
            </a:r>
            <a:r>
              <a:rPr lang="ja-JP" altLang="en-US" sz="2200" b="1">
                <a:solidFill>
                  <a:schemeClr val="bg1"/>
                </a:solidFill>
                <a:latin typeface="+mn-lt"/>
              </a:rPr>
              <a:t>周期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  <a:latin typeface="+mn-lt"/>
              </a:rPr>
              <a:t>縦線は月曜日</a:t>
            </a:r>
            <a:r>
              <a:rPr lang="en-US" altLang="ja-JP" sz="2200" b="1">
                <a:solidFill>
                  <a:schemeClr val="bg1"/>
                </a:solidFill>
                <a:latin typeface="+mn-lt"/>
              </a:rPr>
              <a:t>(2024/1/1</a:t>
            </a:r>
            <a:r>
              <a:rPr lang="ja-JP" altLang="en-US" sz="2200" b="1">
                <a:solidFill>
                  <a:schemeClr val="bg1"/>
                </a:solidFill>
                <a:latin typeface="+mn-lt"/>
              </a:rPr>
              <a:t>が月曜日</a:t>
            </a:r>
            <a:r>
              <a:rPr lang="en-US" altLang="ja-JP" sz="2200" b="1">
                <a:solidFill>
                  <a:schemeClr val="bg1"/>
                </a:solidFill>
                <a:latin typeface="+mn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  <a:latin typeface="+mn-lt"/>
              </a:rPr>
              <a:t>火曜日に最低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  <a:latin typeface="+mn-lt"/>
              </a:rPr>
              <a:t>土曜日に最高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r>
              <a:rPr lang="en-US" altLang="ja-JP" sz="2200" b="1">
                <a:solidFill>
                  <a:schemeClr val="bg1"/>
                </a:solidFill>
                <a:latin typeface="+mn-lt"/>
              </a:rPr>
              <a:t>※</a:t>
            </a:r>
            <a:r>
              <a:rPr lang="ja-JP" altLang="en-US" sz="2200" b="1">
                <a:solidFill>
                  <a:schemeClr val="bg1"/>
                </a:solidFill>
                <a:latin typeface="+mn-lt"/>
              </a:rPr>
              <a:t>週によって</a:t>
            </a:r>
            <a:r>
              <a:rPr lang="ja-JP" altLang="en-US" sz="2200" b="1">
                <a:solidFill>
                  <a:schemeClr val="bg1"/>
                </a:solidFill>
              </a:rPr>
              <a:t>誤差はある</a:t>
            </a:r>
            <a:endParaRPr lang="en-US" altLang="ja-JP" sz="2200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長期休暇にデータ数がやや減少</a:t>
            </a:r>
            <a:r>
              <a:rPr lang="en-US" altLang="ja-JP" sz="2200" b="1">
                <a:solidFill>
                  <a:schemeClr val="bg1"/>
                </a:solidFill>
              </a:rPr>
              <a:t>(GW, </a:t>
            </a:r>
            <a:r>
              <a:rPr lang="ja-JP" altLang="en-US" sz="2200" b="1">
                <a:solidFill>
                  <a:schemeClr val="bg1"/>
                </a:solidFill>
              </a:rPr>
              <a:t>夏季休暇</a:t>
            </a:r>
            <a:r>
              <a:rPr lang="en-US" altLang="ja-JP" sz="2200" b="1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年末にかけてデータ数が上昇</a:t>
            </a:r>
            <a:endParaRPr lang="en-US" altLang="ja-JP" sz="2200" b="1">
              <a:solidFill>
                <a:schemeClr val="bg1"/>
              </a:solidFill>
            </a:endParaRPr>
          </a:p>
          <a:p>
            <a:r>
              <a:rPr lang="en-US" altLang="ja-JP" sz="2200" b="1">
                <a:solidFill>
                  <a:schemeClr val="bg1"/>
                </a:solidFill>
              </a:rPr>
              <a:t>※</a:t>
            </a:r>
            <a:r>
              <a:rPr lang="en-JP" altLang="ja-JP" sz="2200" b="1">
                <a:solidFill>
                  <a:schemeClr val="bg1"/>
                </a:solidFill>
              </a:rPr>
              <a:t>12</a:t>
            </a:r>
            <a:r>
              <a:rPr lang="ja-JP" altLang="en-JP" sz="2200" b="1">
                <a:solidFill>
                  <a:schemeClr val="bg1"/>
                </a:solidFill>
              </a:rPr>
              <a:t>月</a:t>
            </a:r>
            <a:r>
              <a:rPr lang="ja-JP" altLang="en-US" sz="2200" b="1">
                <a:solidFill>
                  <a:schemeClr val="bg1"/>
                </a:solidFill>
              </a:rPr>
              <a:t>中に特別な傾向は見られない</a:t>
            </a:r>
            <a:endParaRPr lang="en-US" altLang="ja-JP" sz="2200" b="1">
              <a:solidFill>
                <a:schemeClr val="bg1"/>
              </a:solidFill>
            </a:endParaRPr>
          </a:p>
          <a:p>
            <a:r>
              <a:rPr lang="en-US" altLang="ja-JP" sz="2200" b="1">
                <a:solidFill>
                  <a:schemeClr val="bg1"/>
                </a:solidFill>
              </a:rPr>
              <a:t>(</a:t>
            </a:r>
            <a:r>
              <a:rPr lang="ja-JP" altLang="en-US" sz="2200" b="1">
                <a:solidFill>
                  <a:schemeClr val="bg1"/>
                </a:solidFill>
              </a:rPr>
              <a:t>現段階では</a:t>
            </a:r>
            <a:r>
              <a:rPr lang="en-US" altLang="ja-JP" sz="2200" b="1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4" name="Picture 3" descr="A graph of blue lines&#10;&#10;AI-generated content may be incorrect.">
            <a:extLst>
              <a:ext uri="{FF2B5EF4-FFF2-40B4-BE49-F238E27FC236}">
                <a16:creationId xmlns:a16="http://schemas.microsoft.com/office/drawing/2014/main" id="{B8356A22-069C-52E1-7FA6-1D76A5F1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99" t="31457" r="22879" b="30333"/>
          <a:stretch>
            <a:fillRect/>
          </a:stretch>
        </p:blipFill>
        <p:spPr>
          <a:xfrm>
            <a:off x="425787" y="386835"/>
            <a:ext cx="2773363" cy="4369787"/>
          </a:xfrm>
          <a:prstGeom prst="rect">
            <a:avLst/>
          </a:prstGeom>
        </p:spPr>
      </p:pic>
      <p:sp>
        <p:nvSpPr>
          <p:cNvPr id="5" name="Google Shape;1157;p103">
            <a:extLst>
              <a:ext uri="{FF2B5EF4-FFF2-40B4-BE49-F238E27FC236}">
                <a16:creationId xmlns:a16="http://schemas.microsoft.com/office/drawing/2014/main" id="{646C49E3-076C-6F48-CAC4-DE8E43966B1A}"/>
              </a:ext>
            </a:extLst>
          </p:cNvPr>
          <p:cNvSpPr/>
          <p:nvPr/>
        </p:nvSpPr>
        <p:spPr>
          <a:xfrm>
            <a:off x="425787" y="386834"/>
            <a:ext cx="2773362" cy="436978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06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ISBN</a:t>
            </a:r>
            <a:endParaRPr sz="4000" b="1"/>
          </a:p>
        </p:txBody>
      </p:sp>
      <p:sp>
        <p:nvSpPr>
          <p:cNvPr id="1175" name="Google Shape;1175;p106"/>
          <p:cNvSpPr txBox="1">
            <a:spLocks noGrp="1"/>
          </p:cNvSpPr>
          <p:nvPr>
            <p:ph type="body" idx="1"/>
          </p:nvPr>
        </p:nvSpPr>
        <p:spPr>
          <a:xfrm>
            <a:off x="5035495" y="1919075"/>
            <a:ext cx="3961063" cy="3113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ユニークな数　195,548</a:t>
            </a:r>
            <a:endParaRPr lang="ja-JP" sz="2200">
              <a:solidFill>
                <a:srgbClr val="424242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欠損値の数　　　0</a:t>
            </a:r>
            <a:endParaRPr lang="ja-JP" sz="2200">
              <a:solidFill>
                <a:srgbClr val="424242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欠損値の割合　 0.0%</a:t>
            </a:r>
          </a:p>
        </p:txBody>
      </p:sp>
      <p:pic>
        <p:nvPicPr>
          <p:cNvPr id="2" name="図 1" descr="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1F91AE5C-E581-1B78-E71B-9BEDBA0B4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6" y="1916205"/>
            <a:ext cx="4551300" cy="29331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>
          <a:extLst>
            <a:ext uri="{FF2B5EF4-FFF2-40B4-BE49-F238E27FC236}">
              <a16:creationId xmlns:a16="http://schemas.microsoft.com/office/drawing/2014/main" id="{668969B4-0DB7-7CC0-1C32-758FB136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06">
            <a:extLst>
              <a:ext uri="{FF2B5EF4-FFF2-40B4-BE49-F238E27FC236}">
                <a16:creationId xmlns:a16="http://schemas.microsoft.com/office/drawing/2014/main" id="{E8DA3876-39E9-98FA-B909-CBD7D4BDD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ISBN</a:t>
            </a:r>
            <a:endParaRPr sz="4000" b="1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B15F2C-4D09-5135-D9F4-2058A6576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>
                <a:solidFill>
                  <a:srgbClr val="424242"/>
                </a:solidFill>
              </a:rPr>
              <a:t>ISBNコード（国際標準図書番号）とは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→本や書籍を特定する唯一のコード、バーコードなどに使用</a:t>
            </a:r>
            <a:endParaRPr lang="en-US" altLang="ja-JP">
              <a:solidFill>
                <a:srgbClr val="4285F4"/>
              </a:solidFill>
            </a:endParaRPr>
          </a:p>
          <a:p>
            <a:pPr>
              <a:lnSpc>
                <a:spcPct val="114999"/>
              </a:lnSpc>
            </a:pPr>
            <a:r>
              <a:rPr lang="ja-JP">
                <a:solidFill>
                  <a:srgbClr val="424242"/>
                </a:solidFill>
              </a:rPr>
              <a:t>例）978-4-8069-1902-5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978 → 接頭記号、「書籍」であることを表す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4 → 国記号、日本で発行された書籍には「4」が割り当てられる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 8069 → 出版者記号、どの出版社が発行したかを表す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1902 → 書名記号、書籍出版物の固有番号が割り振られる</a:t>
            </a:r>
            <a:br>
              <a:rPr lang="ja-JP">
                <a:solidFill>
                  <a:srgbClr val="424242"/>
                </a:solidFill>
              </a:rPr>
            </a:br>
            <a:r>
              <a:rPr lang="ja-JP">
                <a:solidFill>
                  <a:srgbClr val="424242"/>
                </a:solidFill>
              </a:rPr>
              <a:t>5 → チェックデジット </a:t>
            </a:r>
            <a:endParaRPr lang="en-US" altLang="ja-JP">
              <a:solidFill>
                <a:srgbClr val="4285F4"/>
              </a:solidFill>
            </a:endParaRPr>
          </a:p>
          <a:p>
            <a:pPr>
              <a:lnSpc>
                <a:spcPct val="114999"/>
              </a:lnSpc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3259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05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b="1"/>
              <a:t>ISBN</a:t>
            </a:r>
            <a:r>
              <a:rPr lang="ja-JP" altLang="en" b="1"/>
              <a:t>に関する分析</a:t>
            </a:r>
            <a:endParaRPr lang="en" b="1"/>
          </a:p>
        </p:txBody>
      </p:sp>
      <p:sp>
        <p:nvSpPr>
          <p:cNvPr id="1169" name="Google Shape;1169;p10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出現回数が100回以下が96.09％　187,920件/195,548件</a:t>
            </a:r>
            <a:br>
              <a:rPr lang="ja-JP" altLang="en" sz="2200">
                <a:solidFill>
                  <a:srgbClr val="424242"/>
                </a:solidFill>
              </a:rPr>
            </a:br>
            <a:r>
              <a:rPr lang="ja-JP" altLang="en" sz="2200">
                <a:solidFill>
                  <a:srgbClr val="424242"/>
                </a:solidFill>
              </a:rPr>
              <a:t>→ロングテール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出現回数上位30件はすべて1500回以上出現</a:t>
            </a:r>
            <a:br>
              <a:rPr lang="ja-JP" altLang="en" sz="2200">
                <a:solidFill>
                  <a:srgbClr val="424242"/>
                </a:solidFill>
              </a:rPr>
            </a:br>
            <a:r>
              <a:rPr lang="ja-JP" altLang="en" sz="2200">
                <a:solidFill>
                  <a:srgbClr val="424242"/>
                </a:solidFill>
              </a:rPr>
              <a:t>→人気書籍に強い集中がある ＝ 売上集中構造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>
          <a:extLst>
            <a:ext uri="{FF2B5EF4-FFF2-40B4-BE49-F238E27FC236}">
              <a16:creationId xmlns:a16="http://schemas.microsoft.com/office/drawing/2014/main" id="{0E9057AA-F6D3-DF62-540A-20458BD69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05">
            <a:extLst>
              <a:ext uri="{FF2B5EF4-FFF2-40B4-BE49-F238E27FC236}">
                <a16:creationId xmlns:a16="http://schemas.microsoft.com/office/drawing/2014/main" id="{26E2B398-48D3-B93E-EEDF-DDD802861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b="1"/>
              <a:t>ISBN</a:t>
            </a:r>
            <a:r>
              <a:rPr lang="ja-JP" altLang="en" b="1"/>
              <a:t>に関する今後の分析方針</a:t>
            </a:r>
            <a:endParaRPr lang="en" b="1"/>
          </a:p>
        </p:txBody>
      </p:sp>
      <p:sp>
        <p:nvSpPr>
          <p:cNvPr id="1169" name="Google Shape;1169;p105">
            <a:extLst>
              <a:ext uri="{FF2B5EF4-FFF2-40B4-BE49-F238E27FC236}">
                <a16:creationId xmlns:a16="http://schemas.microsoft.com/office/drawing/2014/main" id="{B64711E5-B088-3F26-DDC6-8A7308C373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・出版社別にISBNの平均出現回数を計算する</a:t>
            </a:r>
            <a:br>
              <a:rPr lang="ja-JP" altLang="en" sz="2200">
                <a:solidFill>
                  <a:srgbClr val="424242"/>
                </a:solidFill>
              </a:rPr>
            </a:br>
            <a:r>
              <a:rPr lang="ja-JP" altLang="en" sz="2200">
                <a:solidFill>
                  <a:srgbClr val="424242"/>
                </a:solidFill>
              </a:rPr>
              <a:t>　①少ないISBNで大きな出現回数を稼いでいる場合</a:t>
            </a:r>
            <a:br>
              <a:rPr lang="ja-JP" altLang="en" sz="2200">
                <a:solidFill>
                  <a:srgbClr val="424242"/>
                </a:solidFill>
              </a:rPr>
            </a:br>
            <a:r>
              <a:rPr lang="ja-JP" altLang="en" sz="2200">
                <a:solidFill>
                  <a:srgbClr val="424242"/>
                </a:solidFill>
              </a:rPr>
              <a:t>　　→人気タイトル依存型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　②多くのISBNを幅広く持っている場合</a:t>
            </a:r>
            <a:br>
              <a:rPr lang="ja-JP" altLang="en" sz="2200">
                <a:solidFill>
                  <a:srgbClr val="424242"/>
                </a:solidFill>
              </a:rPr>
            </a:br>
            <a:r>
              <a:rPr lang="ja-JP" altLang="en" sz="2200">
                <a:solidFill>
                  <a:srgbClr val="424242"/>
                </a:solidFill>
              </a:rPr>
              <a:t>　　→カタログ拡大型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出版社のデータと紐づけて分析するのが面白そう</a:t>
            </a:r>
          </a:p>
        </p:txBody>
      </p:sp>
    </p:spTree>
    <p:extLst>
      <p:ext uri="{BB962C8B-B14F-4D97-AF65-F5344CB8AC3E}">
        <p14:creationId xmlns:p14="http://schemas.microsoft.com/office/powerpoint/2010/main" val="288003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07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出版社</a:t>
            </a:r>
            <a:endParaRPr sz="4000" b="1"/>
          </a:p>
        </p:txBody>
      </p:sp>
      <p:sp>
        <p:nvSpPr>
          <p:cNvPr id="1181" name="Google Shape;1181;p107"/>
          <p:cNvSpPr txBox="1">
            <a:spLocks noGrp="1"/>
          </p:cNvSpPr>
          <p:nvPr>
            <p:ph type="body" idx="1"/>
          </p:nvPr>
        </p:nvSpPr>
        <p:spPr>
          <a:xfrm>
            <a:off x="4993472" y="1919075"/>
            <a:ext cx="4061917" cy="2962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ユニークな出版社数　1,397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欠損値の数　　　　　6753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欠損値の割合　　　　0.17%</a:t>
            </a:r>
          </a:p>
        </p:txBody>
      </p:sp>
      <p:pic>
        <p:nvPicPr>
          <p:cNvPr id="2" name="図 1" descr="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786E7987-0C5F-574E-2F11-9CDDABFFB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0" y="1916205"/>
            <a:ext cx="4618534" cy="2966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>
          <a:extLst>
            <a:ext uri="{FF2B5EF4-FFF2-40B4-BE49-F238E27FC236}">
              <a16:creationId xmlns:a16="http://schemas.microsoft.com/office/drawing/2014/main" id="{03D4982A-E26D-7967-C360-FF2FACCB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05">
            <a:extLst>
              <a:ext uri="{FF2B5EF4-FFF2-40B4-BE49-F238E27FC236}">
                <a16:creationId xmlns:a16="http://schemas.microsoft.com/office/drawing/2014/main" id="{FBF8E783-049C-7704-879E-5B7ADE5A2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ja-JP" altLang="en" b="1"/>
              <a:t>出版社に関する分析</a:t>
            </a:r>
            <a:endParaRPr lang="en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F09893-ADD1-854C-271C-F66BA1583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solidFill>
                  <a:srgbClr val="424242"/>
                </a:solidFill>
              </a:rPr>
              <a:t>ユニークな出版社数を基準</a:t>
            </a:r>
            <a:br>
              <a:rPr lang="ja-JP" altLang="en-US">
                <a:solidFill>
                  <a:srgbClr val="424242"/>
                </a:solidFill>
              </a:rPr>
            </a:br>
            <a:r>
              <a:rPr lang="ja-JP" altLang="en-US">
                <a:solidFill>
                  <a:srgbClr val="424242"/>
                </a:solidFill>
              </a:rPr>
              <a:t>出現回数が1000回未満　82.61%　1,154件 / 1,397件</a:t>
            </a:r>
            <a:br>
              <a:rPr lang="ja-JP" altLang="en-US">
                <a:solidFill>
                  <a:srgbClr val="424242"/>
                </a:solidFill>
              </a:rPr>
            </a:br>
            <a:r>
              <a:rPr lang="ja-JP" altLang="en-US">
                <a:solidFill>
                  <a:srgbClr val="424242"/>
                </a:solidFill>
              </a:rPr>
              <a:t>→ロングテール</a:t>
            </a:r>
          </a:p>
          <a:p>
            <a:pPr>
              <a:lnSpc>
                <a:spcPct val="114999"/>
              </a:lnSpc>
            </a:pPr>
            <a:r>
              <a:rPr lang="ja-JP" altLang="en-US">
                <a:solidFill>
                  <a:srgbClr val="424242"/>
                </a:solidFill>
              </a:rPr>
              <a:t>データ全体を基準</a:t>
            </a:r>
            <a:br>
              <a:rPr lang="ja-JP" altLang="en-US">
                <a:solidFill>
                  <a:srgbClr val="424242"/>
                </a:solidFill>
              </a:rPr>
            </a:br>
            <a:r>
              <a:rPr lang="ja-JP" altLang="en-US">
                <a:solidFill>
                  <a:srgbClr val="424242"/>
                </a:solidFill>
              </a:rPr>
              <a:t>回数上位4件グループ　33.50％　1,329,841件 / 3,969,881件</a:t>
            </a:r>
            <a:br>
              <a:rPr lang="ja-JP" altLang="en-US">
                <a:solidFill>
                  <a:srgbClr val="424242"/>
                </a:solidFill>
              </a:rPr>
            </a:br>
            <a:r>
              <a:rPr lang="ja-JP" altLang="en-US">
                <a:solidFill>
                  <a:srgbClr val="424242"/>
                </a:solidFill>
              </a:rPr>
              <a:t>出現→突出している上位4件だけでデータ全体の1/3を占めている</a:t>
            </a:r>
          </a:p>
          <a:p>
            <a:pPr>
              <a:lnSpc>
                <a:spcPct val="114999"/>
              </a:lnSpc>
            </a:pPr>
            <a:endParaRPr lang="ja-JP" altLang="en-US">
              <a:solidFill>
                <a:srgbClr val="424242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ja-JP" altLang="en-US">
                <a:solidFill>
                  <a:srgbClr val="424242"/>
                </a:solidFill>
              </a:rPr>
              <a:t>0.17％の欠損値や表記ゆれを修正して再分析</a:t>
            </a:r>
          </a:p>
        </p:txBody>
      </p:sp>
    </p:spTree>
    <p:extLst>
      <p:ext uri="{BB962C8B-B14F-4D97-AF65-F5344CB8AC3E}">
        <p14:creationId xmlns:p14="http://schemas.microsoft.com/office/powerpoint/2010/main" val="4080526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>
          <a:extLst>
            <a:ext uri="{FF2B5EF4-FFF2-40B4-BE49-F238E27FC236}">
              <a16:creationId xmlns:a16="http://schemas.microsoft.com/office/drawing/2014/main" id="{2D8AA851-2276-FED6-9460-206E3B1B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07">
            <a:extLst>
              <a:ext uri="{FF2B5EF4-FFF2-40B4-BE49-F238E27FC236}">
                <a16:creationId xmlns:a16="http://schemas.microsoft.com/office/drawing/2014/main" id="{6F10674F-6AAB-7F83-EA7C-CB1943487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出版社（</a:t>
            </a:r>
            <a:r>
              <a:rPr lang="ja-JP" altLang="en" b="1"/>
              <a:t>正規化後</a:t>
            </a:r>
            <a:r>
              <a:rPr lang="en" b="1"/>
              <a:t>）</a:t>
            </a:r>
            <a:endParaRPr sz="4000" b="1"/>
          </a:p>
        </p:txBody>
      </p:sp>
      <p:sp>
        <p:nvSpPr>
          <p:cNvPr id="1181" name="Google Shape;1181;p107">
            <a:extLst>
              <a:ext uri="{FF2B5EF4-FFF2-40B4-BE49-F238E27FC236}">
                <a16:creationId xmlns:a16="http://schemas.microsoft.com/office/drawing/2014/main" id="{C994F4B6-C51E-D66D-245D-1717C761B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93472" y="1919075"/>
            <a:ext cx="4061917" cy="2962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ユニークな出版社数　1,389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欠損値の数　　　　　0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chemeClr val="bg2"/>
                </a:solidFill>
              </a:rPr>
              <a:t>欠損値の割合　　　　0.0%</a:t>
            </a:r>
          </a:p>
        </p:txBody>
      </p:sp>
      <p:pic>
        <p:nvPicPr>
          <p:cNvPr id="4" name="図 3" descr="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B172BE80-1B64-EA5A-9E27-8B456F96B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64" y="1798544"/>
            <a:ext cx="4626939" cy="3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5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>
          <a:extLst>
            <a:ext uri="{FF2B5EF4-FFF2-40B4-BE49-F238E27FC236}">
              <a16:creationId xmlns:a16="http://schemas.microsoft.com/office/drawing/2014/main" id="{77FDCBA0-5BA1-CA88-7BC2-1A4001EE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05">
            <a:extLst>
              <a:ext uri="{FF2B5EF4-FFF2-40B4-BE49-F238E27FC236}">
                <a16:creationId xmlns:a16="http://schemas.microsoft.com/office/drawing/2014/main" id="{E82D14E7-FCB2-BEDA-5A59-346883B640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ja-JP" altLang="en" b="1"/>
              <a:t>出版社に関する分析（正規化後）</a:t>
            </a:r>
            <a:endParaRPr lang="en" b="1"/>
          </a:p>
        </p:txBody>
      </p:sp>
      <p:sp>
        <p:nvSpPr>
          <p:cNvPr id="1169" name="Google Shape;1169;p105">
            <a:extLst>
              <a:ext uri="{FF2B5EF4-FFF2-40B4-BE49-F238E27FC236}">
                <a16:creationId xmlns:a16="http://schemas.microsoft.com/office/drawing/2014/main" id="{F13405E7-B51E-C817-1F4A-7C38CCBC5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57" y="1919075"/>
            <a:ext cx="8112843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・欠損値をISBNから補完</a:t>
            </a:r>
            <a:br>
              <a:rPr lang="ja-JP" altLang="en" sz="2200"/>
            </a:br>
            <a:r>
              <a:rPr lang="ja-JP" altLang="en" sz="2200">
                <a:solidFill>
                  <a:srgbClr val="424242"/>
                </a:solidFill>
              </a:rPr>
              <a:t>　→ISBNコードから出版者名を特定し補完</a:t>
            </a:r>
          </a:p>
          <a:p>
            <a:pPr marL="0" indent="0">
              <a:lnSpc>
                <a:spcPct val="114999"/>
              </a:lnSpc>
              <a:spcAft>
                <a:spcPts val="1600"/>
              </a:spcAft>
              <a:buNone/>
            </a:pPr>
            <a:r>
              <a:rPr lang="ja-JP" altLang="en" sz="2200">
                <a:solidFill>
                  <a:srgbClr val="424242"/>
                </a:solidFill>
              </a:rPr>
              <a:t>・表記ゆれの修正、スペースの削除</a:t>
            </a:r>
            <a:br>
              <a:rPr lang="ja-JP" altLang="en" sz="2200"/>
            </a:br>
            <a:r>
              <a:rPr lang="ja-JP" altLang="en" sz="2200">
                <a:solidFill>
                  <a:srgbClr val="424242"/>
                </a:solidFill>
              </a:rPr>
              <a:t>　→同一出版者でもスペースの有無や表記ゆれによって</a:t>
            </a:r>
            <a:br>
              <a:rPr lang="ja-JP" altLang="en" sz="2200"/>
            </a:br>
            <a:r>
              <a:rPr lang="ja-JP" altLang="en" sz="2200">
                <a:solidFill>
                  <a:srgbClr val="424242"/>
                </a:solidFill>
              </a:rPr>
              <a:t>　　別出版者としてカウントされてしまう問題を修正</a:t>
            </a:r>
          </a:p>
        </p:txBody>
      </p:sp>
    </p:spTree>
    <p:extLst>
      <p:ext uri="{BB962C8B-B14F-4D97-AF65-F5344CB8AC3E}">
        <p14:creationId xmlns:p14="http://schemas.microsoft.com/office/powerpoint/2010/main" val="423678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FF470920-4826-5843-52CE-EF742A7D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56;p103">
            <a:extLst>
              <a:ext uri="{FF2B5EF4-FFF2-40B4-BE49-F238E27FC236}">
                <a16:creationId xmlns:a16="http://schemas.microsoft.com/office/drawing/2014/main" id="{8A6E702A-AA90-9D84-78FB-5127C505E559}"/>
              </a:ext>
            </a:extLst>
          </p:cNvPr>
          <p:cNvSpPr txBox="1">
            <a:spLocks/>
          </p:cNvSpPr>
          <p:nvPr/>
        </p:nvSpPr>
        <p:spPr>
          <a:xfrm>
            <a:off x="500062" y="3614736"/>
            <a:ext cx="8339699" cy="1318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  <a:latin typeface="+mn-lt"/>
              </a:rPr>
              <a:t>対数スケール上でデータが右肩下がりになっている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r>
              <a:rPr lang="ja-JP" altLang="en-US" sz="2200" b="1">
                <a:solidFill>
                  <a:schemeClr val="bg1"/>
                </a:solidFill>
                <a:latin typeface="+mn-lt"/>
              </a:rPr>
              <a:t>　 べき乗則に従っている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出版数が1〜10冊程度の出版社が圧倒的多数を占めている</a:t>
            </a:r>
            <a:endParaRPr lang="en-US" altLang="ja-JP" sz="2200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sz="2200" b="1">
                <a:solidFill>
                  <a:schemeClr val="bg1"/>
                </a:solidFill>
              </a:rPr>
              <a:t>出版数が1000冊を超える出版社はごくわずか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ja-JP" altLang="en-US" sz="2200" b="1">
              <a:solidFill>
                <a:schemeClr val="bg1"/>
              </a:solidFill>
            </a:endParaRPr>
          </a:p>
          <a:p>
            <a:endParaRPr lang="ja-JP" altLang="en-US" sz="2200" b="1">
              <a:solidFill>
                <a:schemeClr val="bg1"/>
              </a:solidFill>
            </a:endParaRPr>
          </a:p>
        </p:txBody>
      </p:sp>
      <p:pic>
        <p:nvPicPr>
          <p:cNvPr id="2" name="図 1" descr="グラフ, ヒストグラム&#10;&#10;AI 生成コンテンツは間違っている可能性があります。">
            <a:extLst>
              <a:ext uri="{FF2B5EF4-FFF2-40B4-BE49-F238E27FC236}">
                <a16:creationId xmlns:a16="http://schemas.microsoft.com/office/drawing/2014/main" id="{2E0B6535-1BE3-9309-5BE5-5CB9BC14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84" y="145827"/>
            <a:ext cx="7521949" cy="33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74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08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書名</a:t>
            </a:r>
            <a:endParaRPr sz="4000" b="1"/>
          </a:p>
        </p:txBody>
      </p:sp>
      <p:sp>
        <p:nvSpPr>
          <p:cNvPr id="1187" name="Google Shape;1187;p108"/>
          <p:cNvSpPr txBox="1">
            <a:spLocks noGrp="1"/>
          </p:cNvSpPr>
          <p:nvPr>
            <p:ph type="body" idx="1"/>
          </p:nvPr>
        </p:nvSpPr>
        <p:spPr>
          <a:xfrm>
            <a:off x="5575243" y="2384788"/>
            <a:ext cx="3233782" cy="19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err="1">
                <a:solidFill>
                  <a:srgbClr val="000000"/>
                </a:solidFill>
              </a:rPr>
              <a:t>ユニークな数</a:t>
            </a:r>
            <a:r>
              <a:rPr lang="en" sz="2200" b="1">
                <a:solidFill>
                  <a:srgbClr val="000000"/>
                </a:solidFill>
              </a:rPr>
              <a:t>	</a:t>
            </a:r>
            <a:r>
              <a:rPr lang="en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177,043</a:t>
            </a:r>
            <a:endParaRPr sz="22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 err="1">
                <a:solidFill>
                  <a:srgbClr val="000000"/>
                </a:solidFill>
              </a:rPr>
              <a:t>欠損値の数</a:t>
            </a:r>
            <a:r>
              <a:rPr lang="en" sz="2200" b="1">
                <a:solidFill>
                  <a:srgbClr val="000000"/>
                </a:solidFill>
              </a:rPr>
              <a:t>	</a:t>
            </a:r>
            <a:r>
              <a:rPr lang="en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6,736</a:t>
            </a:r>
            <a:endParaRPr sz="22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 b="1" err="1">
                <a:solidFill>
                  <a:srgbClr val="000000"/>
                </a:solidFill>
              </a:rPr>
              <a:t>欠損値の割合</a:t>
            </a:r>
            <a:r>
              <a:rPr lang="en" sz="2200" b="1">
                <a:solidFill>
                  <a:srgbClr val="000000"/>
                </a:solidFill>
              </a:rPr>
              <a:t>	</a:t>
            </a:r>
            <a:r>
              <a:rPr lang="en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0.17</a:t>
            </a:r>
            <a:r>
              <a:rPr lang="en" sz="2200" b="1">
                <a:solidFill>
                  <a:srgbClr val="000000"/>
                </a:solidFill>
              </a:rPr>
              <a:t>%</a:t>
            </a:r>
            <a:endParaRPr sz="2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5E8BEAD9-3E50-D278-59DC-F891B361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9" y="1722382"/>
            <a:ext cx="5129727" cy="32746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9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書名に関する分析</a:t>
            </a:r>
            <a:endParaRPr sz="4000" b="1"/>
          </a:p>
        </p:txBody>
      </p:sp>
      <p:sp>
        <p:nvSpPr>
          <p:cNvPr id="1194" name="Google Shape;1194;p109"/>
          <p:cNvSpPr txBox="1">
            <a:spLocks noGrp="1"/>
          </p:cNvSpPr>
          <p:nvPr>
            <p:ph type="body" idx="1"/>
          </p:nvPr>
        </p:nvSpPr>
        <p:spPr>
          <a:xfrm>
            <a:off x="447670" y="1960658"/>
            <a:ext cx="7903448" cy="2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lnSpc>
                <a:spcPct val="100000"/>
              </a:lnSpc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出現回数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1,000回未満が 99.85%（176,783種類/177,043種類）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lnSpc>
                <a:spcPct val="100000"/>
              </a:lnSpc>
              <a:spcBef>
                <a:spcPts val="1600"/>
              </a:spcBef>
            </a:pP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空白の表記ゆれ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lnSpc>
                <a:spcPct val="100000"/>
              </a:lnSpc>
            </a:pP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巻数別に区別される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のなかに含まれる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「〜</a:t>
            </a: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版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」</a:t>
            </a:r>
            <a:r>
              <a:rPr lang="ja-JP" alt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は必要か</a:t>
            </a:r>
            <a:b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</a:br>
            <a:r>
              <a:rPr lang="en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※</a:t>
            </a:r>
            <a:r>
              <a:rPr lang="en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「VOGUE </a:t>
            </a:r>
            <a:r>
              <a:rPr lang="en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JAPAN（ヴォーグジャパン」など途中で切られ閉じられていないものもある</a:t>
            </a:r>
            <a:endParaRPr lang="en" sz="200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87;p108">
            <a:extLst>
              <a:ext uri="{FF2B5EF4-FFF2-40B4-BE49-F238E27FC236}">
                <a16:creationId xmlns:a16="http://schemas.microsoft.com/office/drawing/2014/main" id="{969D4738-89A8-761D-2DC3-B019414CEC41}"/>
              </a:ext>
            </a:extLst>
          </p:cNvPr>
          <p:cNvSpPr txBox="1">
            <a:spLocks/>
          </p:cNvSpPr>
          <p:nvPr/>
        </p:nvSpPr>
        <p:spPr>
          <a:xfrm>
            <a:off x="5575243" y="2228183"/>
            <a:ext cx="3233782" cy="135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>
              <a:spcBef>
                <a:spcPts val="1600"/>
              </a:spcBef>
              <a:buNone/>
            </a:pP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半角スペース（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）を含む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件</a:t>
            </a:r>
          </a:p>
          <a:p>
            <a:pPr marL="0" lvl="0" indent="0">
              <a:buNone/>
            </a:pP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全角スペース（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）を含む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2,842,472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件</a:t>
            </a:r>
          </a:p>
          <a:p>
            <a:pPr marL="0" lvl="0" indent="0">
              <a:buNone/>
            </a:pP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両方含む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件</a:t>
            </a:r>
          </a:p>
          <a:p>
            <a:pPr marL="0" lvl="0" indent="0">
              <a:buNone/>
            </a:pP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いずれかのスペースを含む</a:t>
            </a:r>
            <a:r>
              <a:rPr lang="en-US" altLang="ja-JP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2,842,472</a:t>
            </a:r>
            <a:r>
              <a:rPr lang="ja-JP" alt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件</a:t>
            </a:r>
          </a:p>
          <a:p>
            <a:pPr marL="0" indent="0">
              <a:lnSpc>
                <a:spcPct val="100000"/>
              </a:lnSpc>
              <a:buFont typeface="Roboto"/>
              <a:buNone/>
            </a:pPr>
            <a:endParaRPr lang="ja-JP" altLang="en-US"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11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b="1"/>
              <a:t>書名</a:t>
            </a:r>
            <a:r>
              <a:rPr lang="en-US" altLang="ja-JP" b="1"/>
              <a:t>(</a:t>
            </a:r>
            <a:r>
              <a:rPr lang="ja-JP" altLang="en-US" b="1"/>
              <a:t>正規化後</a:t>
            </a:r>
            <a:r>
              <a:rPr lang="en-US" altLang="ja-JP" b="1"/>
              <a:t>)</a:t>
            </a:r>
            <a:endParaRPr lang="ja-JP" altLang="en-US" sz="4000" b="1"/>
          </a:p>
        </p:txBody>
      </p:sp>
      <p:sp>
        <p:nvSpPr>
          <p:cNvPr id="1206" name="Google Shape;1206;p111"/>
          <p:cNvSpPr txBox="1">
            <a:spLocks noGrp="1"/>
          </p:cNvSpPr>
          <p:nvPr>
            <p:ph type="body" idx="1"/>
          </p:nvPr>
        </p:nvSpPr>
        <p:spPr>
          <a:xfrm>
            <a:off x="5284000" y="1778185"/>
            <a:ext cx="3661200" cy="3182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ユニークな数	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136839</a:t>
            </a:r>
            <a:endParaRPr lang="ja-JP" altLang="en-US"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欠損値の数	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6,736</a:t>
            </a:r>
            <a:endParaRPr lang="ja-JP" altLang="en-US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欠損値の割合	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0.17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%</a:t>
            </a:r>
            <a:endParaRPr lang="ja-JP" altLang="en-US" sz="2000" b="1">
              <a:solidFill>
                <a:srgbClr val="000000"/>
              </a:solidFill>
              <a:latin typeface="+mn-lt"/>
            </a:endParaRP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177,043</a:t>
            </a:r>
            <a:r>
              <a:rPr lang="ja-JP" altLang="en-US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種類 → 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136,839</a:t>
            </a:r>
            <a:r>
              <a:rPr lang="ja-JP" altLang="en-US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種類（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22.46%</a:t>
            </a:r>
            <a:r>
              <a:rPr lang="ja-JP" altLang="en-US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削減）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ja-JP" altLang="en-US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巻数，サブタイトルは削除</a:t>
            </a:r>
            <a:endParaRPr lang="en-US" altLang="ja-JP"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ja-JP" altLang="en-US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コミック本が上位を占める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18BF8-380A-87E0-2965-5DDE13F3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0" y="1732055"/>
            <a:ext cx="4974710" cy="31756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52088112-76C2-D0CE-F33F-03829F6F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56;p103">
            <a:extLst>
              <a:ext uri="{FF2B5EF4-FFF2-40B4-BE49-F238E27FC236}">
                <a16:creationId xmlns:a16="http://schemas.microsoft.com/office/drawing/2014/main" id="{FFFEC8FB-4692-67F9-B476-2BEAB26E52A2}"/>
              </a:ext>
            </a:extLst>
          </p:cNvPr>
          <p:cNvSpPr txBox="1">
            <a:spLocks/>
          </p:cNvSpPr>
          <p:nvPr/>
        </p:nvSpPr>
        <p:spPr>
          <a:xfrm>
            <a:off x="1214437" y="3614736"/>
            <a:ext cx="7272339" cy="1318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  <a:latin typeface="+mn-lt"/>
              </a:rPr>
              <a:t>対数スケール上でデータが直線上に並んでいる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r>
              <a:rPr lang="en-US" altLang="ja-JP" sz="2200" b="1">
                <a:solidFill>
                  <a:schemeClr val="bg1"/>
                </a:solidFill>
                <a:latin typeface="+mn-lt"/>
              </a:rPr>
              <a:t>i.e. </a:t>
            </a:r>
            <a:r>
              <a:rPr lang="ja-JP" altLang="en-US" sz="2200" b="1">
                <a:solidFill>
                  <a:schemeClr val="bg1"/>
                </a:solidFill>
                <a:latin typeface="+mn-lt"/>
              </a:rPr>
              <a:t>べき乗則に従っている</a:t>
            </a:r>
            <a:endParaRPr lang="en-US" altLang="ja-JP" sz="2200" b="1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機械学習時は</a:t>
            </a:r>
            <a:r>
              <a:rPr lang="en-US" altLang="ja-JP" sz="2200" b="1">
                <a:solidFill>
                  <a:schemeClr val="bg1"/>
                </a:solidFill>
              </a:rPr>
              <a:t>Count-Encoding</a:t>
            </a:r>
            <a:r>
              <a:rPr lang="ja-JP" altLang="en-US" sz="2200" b="1">
                <a:solidFill>
                  <a:schemeClr val="bg1"/>
                </a:solidFill>
              </a:rPr>
              <a:t>でよさそう</a:t>
            </a:r>
            <a:endParaRPr lang="en-US" altLang="ja-JP" sz="2200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対数変換でスケールしても面白いかも</a:t>
            </a:r>
            <a:endParaRPr lang="en-US" altLang="ja-JP" sz="2200" b="1">
              <a:solidFill>
                <a:schemeClr val="bg1"/>
              </a:solidFill>
            </a:endParaRPr>
          </a:p>
          <a:p>
            <a:endParaRPr lang="ja-JP" altLang="en-US" sz="2200" b="1">
              <a:solidFill>
                <a:schemeClr val="bg1"/>
              </a:solidFill>
            </a:endParaRPr>
          </a:p>
        </p:txBody>
      </p:sp>
      <p:pic>
        <p:nvPicPr>
          <p:cNvPr id="4" name="Picture 3" descr="A graph showing a curve&#10;&#10;AI-generated content may be incorrect.">
            <a:extLst>
              <a:ext uri="{FF2B5EF4-FFF2-40B4-BE49-F238E27FC236}">
                <a16:creationId xmlns:a16="http://schemas.microsoft.com/office/drawing/2014/main" id="{6B9985F9-4B04-E616-65C7-F342BBF34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10221"/>
            <a:ext cx="7629526" cy="340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11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3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著者名</a:t>
            </a:r>
            <a:endParaRPr sz="4000" b="1"/>
          </a:p>
        </p:txBody>
      </p:sp>
      <p:sp>
        <p:nvSpPr>
          <p:cNvPr id="1219" name="Google Shape;1219;p113"/>
          <p:cNvSpPr txBox="1">
            <a:spLocks noGrp="1"/>
          </p:cNvSpPr>
          <p:nvPr>
            <p:ph type="body" idx="1"/>
          </p:nvPr>
        </p:nvSpPr>
        <p:spPr>
          <a:xfrm>
            <a:off x="5300663" y="1627665"/>
            <a:ext cx="3661200" cy="31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</a:rPr>
              <a:t>ユニークな数</a:t>
            </a:r>
            <a:r>
              <a:rPr lang="en" sz="2000" b="1">
                <a:solidFill>
                  <a:srgbClr val="000000"/>
                </a:solidFill>
              </a:rPr>
              <a:t>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64,631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</a:rPr>
              <a:t>欠損値の数</a:t>
            </a:r>
            <a:r>
              <a:rPr lang="en" sz="2000" b="1">
                <a:solidFill>
                  <a:srgbClr val="000000"/>
                </a:solidFill>
              </a:rPr>
              <a:t>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1,331,681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</a:rPr>
              <a:t>欠損値の割合</a:t>
            </a:r>
            <a:r>
              <a:rPr lang="en" sz="2000" b="1">
                <a:solidFill>
                  <a:srgbClr val="000000"/>
                </a:solidFill>
              </a:rPr>
              <a:t>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33.54</a:t>
            </a:r>
            <a:r>
              <a:rPr lang="en" sz="2000" b="1">
                <a:solidFill>
                  <a:srgbClr val="000000"/>
                </a:solidFill>
              </a:rPr>
              <a:t>%</a:t>
            </a:r>
            <a:endParaRPr sz="2000" b="1">
              <a:solidFill>
                <a:srgbClr val="000000"/>
              </a:solidFill>
            </a:endParaRPr>
          </a:p>
          <a:p>
            <a:pPr marL="342900">
              <a:lnSpc>
                <a:spcPct val="100000"/>
              </a:lnSpc>
              <a:spcBef>
                <a:spcPts val="1600"/>
              </a:spcBef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1000回未満が 99.42%（64,257種類/64,631種類）</a:t>
            </a:r>
            <a:endParaRPr sz="2000" b="1">
              <a:solidFill>
                <a:srgbClr val="000000"/>
              </a:solidFill>
            </a:endParaRPr>
          </a:p>
          <a:p>
            <a:pPr marL="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" sz="2000" b="1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ロングテール</a:t>
            </a:r>
            <a:endParaRPr lang="en"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" sz="2000" b="1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異常な欠損値の数</a:t>
            </a:r>
            <a:endParaRPr sz="20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AB01B1C7-8712-DEFF-FCAF-B451AF8EF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0" y="1756252"/>
            <a:ext cx="5081923" cy="3247348"/>
          </a:xfrm>
          <a:prstGeom prst="rect">
            <a:avLst/>
          </a:prstGeom>
        </p:spPr>
      </p:pic>
      <p:sp>
        <p:nvSpPr>
          <p:cNvPr id="4" name="Google Shape;1157;p103">
            <a:extLst>
              <a:ext uri="{FF2B5EF4-FFF2-40B4-BE49-F238E27FC236}">
                <a16:creationId xmlns:a16="http://schemas.microsoft.com/office/drawing/2014/main" id="{8892F53C-977D-640A-EBE9-8A6C58E87DCC}"/>
              </a:ext>
            </a:extLst>
          </p:cNvPr>
          <p:cNvSpPr/>
          <p:nvPr/>
        </p:nvSpPr>
        <p:spPr>
          <a:xfrm>
            <a:off x="218740" y="1985963"/>
            <a:ext cx="738523" cy="262011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AD197486-2982-29C3-E742-3E55AC1A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56;p103">
            <a:extLst>
              <a:ext uri="{FF2B5EF4-FFF2-40B4-BE49-F238E27FC236}">
                <a16:creationId xmlns:a16="http://schemas.microsoft.com/office/drawing/2014/main" id="{1B9A9781-0588-AF4C-913A-56907776197D}"/>
              </a:ext>
            </a:extLst>
          </p:cNvPr>
          <p:cNvSpPr txBox="1">
            <a:spLocks/>
          </p:cNvSpPr>
          <p:nvPr/>
        </p:nvSpPr>
        <p:spPr>
          <a:xfrm>
            <a:off x="2496783" y="2245172"/>
            <a:ext cx="3437964" cy="1277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空白による表記ゆれ</a:t>
            </a:r>
            <a:endParaRPr lang="en-US" altLang="ja-JP" sz="2200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200" b="1">
                <a:solidFill>
                  <a:schemeClr val="bg1"/>
                </a:solidFill>
              </a:rPr>
              <a:t>〜</a:t>
            </a:r>
            <a:r>
              <a:rPr lang="ja-JP" altLang="en-US" sz="2200" b="1">
                <a:solidFill>
                  <a:schemeClr val="bg1"/>
                </a:solidFill>
              </a:rPr>
              <a:t>著などの表記ゆれ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EFCA77-CE21-F591-8E13-EA7CC95770C7}"/>
              </a:ext>
            </a:extLst>
          </p:cNvPr>
          <p:cNvGrpSpPr/>
          <p:nvPr/>
        </p:nvGrpSpPr>
        <p:grpSpPr>
          <a:xfrm>
            <a:off x="5934747" y="1287395"/>
            <a:ext cx="2897526" cy="2718197"/>
            <a:chOff x="6133621" y="39291"/>
            <a:chExt cx="2897526" cy="2718197"/>
          </a:xfrm>
        </p:grpSpPr>
        <p:sp>
          <p:nvSpPr>
            <p:cNvPr id="10" name="Google Shape;1228;p114">
              <a:extLst>
                <a:ext uri="{FF2B5EF4-FFF2-40B4-BE49-F238E27FC236}">
                  <a16:creationId xmlns:a16="http://schemas.microsoft.com/office/drawing/2014/main" id="{39DBC15F-3E82-4C76-4D90-BFF71B1842FD}"/>
                </a:ext>
              </a:extLst>
            </p:cNvPr>
            <p:cNvSpPr txBox="1">
              <a:spLocks/>
            </p:cNvSpPr>
            <p:nvPr/>
          </p:nvSpPr>
          <p:spPr>
            <a:xfrm>
              <a:off x="6133621" y="39291"/>
              <a:ext cx="1391613" cy="2718197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監修</a:t>
              </a:r>
              <a:r>
                <a:rPr lang="en-US" altLang="ja-JP">
                  <a:solidFill>
                    <a:schemeClr val="bg1"/>
                  </a:solidFill>
                </a:rPr>
                <a:t>': 53274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原作</a:t>
              </a:r>
              <a:r>
                <a:rPr lang="en-US" altLang="ja-JP">
                  <a:solidFill>
                    <a:schemeClr val="bg1"/>
                  </a:solidFill>
                </a:rPr>
                <a:t>': 16007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漫画</a:t>
              </a:r>
              <a:r>
                <a:rPr lang="en-US" altLang="ja-JP">
                  <a:solidFill>
                    <a:schemeClr val="bg1"/>
                  </a:solidFill>
                </a:rPr>
                <a:t>': 10396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著</a:t>
              </a:r>
              <a:r>
                <a:rPr lang="en-US" altLang="ja-JP">
                  <a:solidFill>
                    <a:schemeClr val="bg1"/>
                  </a:solidFill>
                </a:rPr>
                <a:t>': 557326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画</a:t>
              </a:r>
              <a:r>
                <a:rPr lang="en-US" altLang="ja-JP">
                  <a:solidFill>
                    <a:schemeClr val="bg1"/>
                  </a:solidFill>
                </a:rPr>
                <a:t>': 49472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作</a:t>
              </a:r>
              <a:r>
                <a:rPr lang="en-US" altLang="ja-JP">
                  <a:solidFill>
                    <a:schemeClr val="bg1"/>
                  </a:solidFill>
                </a:rPr>
                <a:t>': 47322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pPr>
                <a:spcBef>
                  <a:spcPts val="1600"/>
                </a:spcBef>
              </a:pPr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編</a:t>
              </a:r>
              <a:r>
                <a:rPr lang="en-US" altLang="ja-JP">
                  <a:solidFill>
                    <a:schemeClr val="bg1"/>
                  </a:solidFill>
                </a:rPr>
                <a:t>': 12557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</p:txBody>
        </p:sp>
        <p:sp>
          <p:nvSpPr>
            <p:cNvPr id="11" name="Google Shape;1228;p114">
              <a:extLst>
                <a:ext uri="{FF2B5EF4-FFF2-40B4-BE49-F238E27FC236}">
                  <a16:creationId xmlns:a16="http://schemas.microsoft.com/office/drawing/2014/main" id="{E1CF2BA3-5FEF-F912-F634-FE179F5B0CE6}"/>
                </a:ext>
              </a:extLst>
            </p:cNvPr>
            <p:cNvSpPr txBox="1">
              <a:spLocks/>
            </p:cNvSpPr>
            <p:nvPr/>
          </p:nvSpPr>
          <p:spPr>
            <a:xfrm>
              <a:off x="7525234" y="39291"/>
              <a:ext cx="1505913" cy="2718197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訳</a:t>
              </a:r>
              <a:r>
                <a:rPr lang="en-US" altLang="ja-JP">
                  <a:solidFill>
                    <a:schemeClr val="bg1"/>
                  </a:solidFill>
                </a:rPr>
                <a:t>': 1104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文</a:t>
              </a:r>
              <a:r>
                <a:rPr lang="en-US" altLang="ja-JP">
                  <a:solidFill>
                    <a:schemeClr val="bg1"/>
                  </a:solidFill>
                </a:rPr>
                <a:t>': 11510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絵</a:t>
              </a:r>
              <a:r>
                <a:rPr lang="en-US" altLang="ja-JP">
                  <a:solidFill>
                    <a:schemeClr val="bg1"/>
                  </a:solidFill>
                </a:rPr>
                <a:t>': 7952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さく</a:t>
              </a:r>
              <a:r>
                <a:rPr lang="en-US" altLang="ja-JP">
                  <a:solidFill>
                    <a:schemeClr val="bg1"/>
                  </a:solidFill>
                </a:rPr>
                <a:t>': 4124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マンガ</a:t>
              </a:r>
              <a:r>
                <a:rPr lang="en-US" altLang="ja-JP">
                  <a:solidFill>
                    <a:schemeClr val="bg1"/>
                  </a:solidFill>
                </a:rPr>
                <a:t>': 1128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</a:t>
              </a:r>
              <a:r>
                <a:rPr lang="ja-JP" altLang="en-US">
                  <a:solidFill>
                    <a:schemeClr val="bg1"/>
                  </a:solidFill>
                </a:rPr>
                <a:t>え</a:t>
              </a:r>
              <a:r>
                <a:rPr lang="en-US" altLang="ja-JP">
                  <a:solidFill>
                    <a:schemeClr val="bg1"/>
                  </a:solidFill>
                </a:rPr>
                <a:t>': 8158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r>
                <a:rPr lang="en-US" altLang="ja-JP">
                  <a:solidFill>
                    <a:schemeClr val="bg1"/>
                  </a:solidFill>
                </a:rPr>
                <a:t>'〔</a:t>
              </a:r>
              <a:r>
                <a:rPr lang="ja-JP" altLang="en-US">
                  <a:solidFill>
                    <a:schemeClr val="bg1"/>
                  </a:solidFill>
                </a:rPr>
                <a:t>著</a:t>
              </a:r>
              <a:r>
                <a:rPr lang="en-US" altLang="ja-JP">
                  <a:solidFill>
                    <a:schemeClr val="bg1"/>
                  </a:solidFill>
                </a:rPr>
                <a:t>〕': 11</a:t>
              </a:r>
              <a:r>
                <a:rPr lang="ja-JP" altLang="en-US">
                  <a:solidFill>
                    <a:schemeClr val="bg1"/>
                  </a:solidFill>
                </a:rPr>
                <a:t>件</a:t>
              </a:r>
            </a:p>
            <a:p>
              <a:endParaRPr lang="ja-JP" altLang="en-US">
                <a:solidFill>
                  <a:schemeClr val="bg1"/>
                </a:solidFill>
              </a:endParaRPr>
            </a:p>
            <a:p>
              <a:endParaRPr lang="ja-JP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" name="Picture 1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EE662024-AD76-A393-0A4C-464F8DF2DA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73" r="85467" b="12242"/>
          <a:stretch>
            <a:fillRect/>
          </a:stretch>
        </p:blipFill>
        <p:spPr>
          <a:xfrm>
            <a:off x="583781" y="110670"/>
            <a:ext cx="1387393" cy="4922159"/>
          </a:xfrm>
          <a:prstGeom prst="rect">
            <a:avLst/>
          </a:prstGeom>
        </p:spPr>
      </p:pic>
      <p:sp>
        <p:nvSpPr>
          <p:cNvPr id="3" name="Google Shape;1157;p103">
            <a:extLst>
              <a:ext uri="{FF2B5EF4-FFF2-40B4-BE49-F238E27FC236}">
                <a16:creationId xmlns:a16="http://schemas.microsoft.com/office/drawing/2014/main" id="{82D36953-F538-70E2-7461-11CDE04F6691}"/>
              </a:ext>
            </a:extLst>
          </p:cNvPr>
          <p:cNvSpPr/>
          <p:nvPr/>
        </p:nvSpPr>
        <p:spPr>
          <a:xfrm>
            <a:off x="583781" y="110669"/>
            <a:ext cx="1387393" cy="492215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45CDED-4C03-3176-10F7-7B8DCB5D8507}"/>
                  </a:ext>
                </a:extLst>
              </p14:cNvPr>
              <p14:cNvContentPartPr/>
              <p14:nvPr/>
            </p14:nvContentPartPr>
            <p14:xfrm>
              <a:off x="984600" y="419040"/>
              <a:ext cx="432000" cy="57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45CDED-4C03-3176-10F7-7B8DCB5D8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760" y="355680"/>
                <a:ext cx="463320" cy="70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388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15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err="1"/>
              <a:t>著者名</a:t>
            </a:r>
            <a:r>
              <a:rPr lang="en" b="1"/>
              <a:t>(</a:t>
            </a:r>
            <a:r>
              <a:rPr lang="en" b="1" err="1"/>
              <a:t>正規化後</a:t>
            </a:r>
            <a:r>
              <a:rPr lang="en" b="1"/>
              <a:t>)</a:t>
            </a:r>
            <a:endParaRPr sz="4000" b="1"/>
          </a:p>
        </p:txBody>
      </p:sp>
      <p:sp>
        <p:nvSpPr>
          <p:cNvPr id="1234" name="Google Shape;1234;p115"/>
          <p:cNvSpPr txBox="1">
            <a:spLocks noGrp="1"/>
          </p:cNvSpPr>
          <p:nvPr>
            <p:ph type="body" idx="1"/>
          </p:nvPr>
        </p:nvSpPr>
        <p:spPr>
          <a:xfrm>
            <a:off x="5344751" y="1721876"/>
            <a:ext cx="3661200" cy="3253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ユニークな数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48,232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欠損値の数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1,331,681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欠損値の割合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</a:t>
            </a: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33.54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%</a:t>
            </a:r>
            <a:endParaRPr sz="2000" b="1">
              <a:solidFill>
                <a:srgbClr val="000000"/>
              </a:solidFill>
              <a:latin typeface="+mn-lt"/>
            </a:endParaRP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en" sz="20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64,631種類 → 48,232種類（19.87%削減）</a:t>
            </a: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表記ゆれの改善</a:t>
            </a:r>
            <a:endParaRPr lang="en"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indent="-285750">
              <a:lnSpc>
                <a:spcPct val="100000"/>
              </a:lnSpc>
              <a:spcBef>
                <a:spcPts val="1600"/>
              </a:spcBef>
            </a:pPr>
            <a:r>
              <a:rPr lang="en" sz="20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書名と綺麗に対応</a:t>
            </a:r>
            <a:endParaRPr lang="en-JP"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graph with blue lines&#10;&#10;AI-generated content may be incorrect.">
            <a:extLst>
              <a:ext uri="{FF2B5EF4-FFF2-40B4-BE49-F238E27FC236}">
                <a16:creationId xmlns:a16="http://schemas.microsoft.com/office/drawing/2014/main" id="{429F0DD1-39F8-F590-7AC3-7DBA0051E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9" y="1721876"/>
            <a:ext cx="5091175" cy="32532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E421D9C1-82D8-241B-9B7B-A3412F73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764940C4-105C-850E-C9EC-3FF706006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4" y="187213"/>
            <a:ext cx="8449530" cy="3770425"/>
          </a:xfrm>
          <a:prstGeom prst="rect">
            <a:avLst/>
          </a:prstGeom>
        </p:spPr>
      </p:pic>
      <p:sp>
        <p:nvSpPr>
          <p:cNvPr id="7" name="Google Shape;1156;p103">
            <a:extLst>
              <a:ext uri="{FF2B5EF4-FFF2-40B4-BE49-F238E27FC236}">
                <a16:creationId xmlns:a16="http://schemas.microsoft.com/office/drawing/2014/main" id="{D4901813-E83A-6893-7884-68DA20FF81F2}"/>
              </a:ext>
            </a:extLst>
          </p:cNvPr>
          <p:cNvSpPr txBox="1">
            <a:spLocks/>
          </p:cNvSpPr>
          <p:nvPr/>
        </p:nvSpPr>
        <p:spPr>
          <a:xfrm>
            <a:off x="1376923" y="4122188"/>
            <a:ext cx="6995551" cy="834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著者名の方がやや少ない</a:t>
            </a:r>
            <a:endParaRPr lang="en-US" altLang="ja-JP" sz="2200" b="1">
              <a:solidFill>
                <a:schemeClr val="bg1"/>
              </a:solidFill>
            </a:endParaRPr>
          </a:p>
          <a:p>
            <a:r>
              <a:rPr lang="en-US" altLang="ja-JP" sz="2200" b="1">
                <a:solidFill>
                  <a:schemeClr val="bg1"/>
                </a:solidFill>
              </a:rPr>
              <a:t>↑</a:t>
            </a:r>
            <a:r>
              <a:rPr lang="ja-JP" altLang="en-US" sz="2200" b="1">
                <a:solidFill>
                  <a:schemeClr val="bg1"/>
                </a:solidFill>
              </a:rPr>
              <a:t>膨大な数の欠損値が影響しているだけでは</a:t>
            </a:r>
            <a:endParaRPr lang="en-US" altLang="ja-JP" sz="2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2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17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著者名の欠損値に関する分析</a:t>
            </a:r>
            <a:endParaRPr sz="4000" b="1"/>
          </a:p>
        </p:txBody>
      </p:sp>
      <p:sp>
        <p:nvSpPr>
          <p:cNvPr id="1249" name="Google Shape;1249;p117"/>
          <p:cNvSpPr txBox="1">
            <a:spLocks noGrp="1"/>
          </p:cNvSpPr>
          <p:nvPr>
            <p:ph type="body" idx="1"/>
          </p:nvPr>
        </p:nvSpPr>
        <p:spPr>
          <a:xfrm>
            <a:off x="460950" y="1934128"/>
            <a:ext cx="8222100" cy="28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/>
            <a:r>
              <a:rPr lang="en" sz="2200" b="1">
                <a:solidFill>
                  <a:srgbClr val="000000"/>
                </a:solidFill>
                <a:latin typeface="+mn-lt"/>
              </a:rPr>
              <a:t>欠損値の数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1,331,68は2パターンあることを発見</a:t>
            </a:r>
            <a:endParaRPr sz="22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パターン1- 6,736行: </a:t>
            </a:r>
            <a:r>
              <a:rPr lang="en" sz="22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著者名・出版社・書名・本体価格が全て欠損（多くの情報が抜けている不完全なレコード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）</a:t>
            </a:r>
            <a:endParaRPr sz="22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パターン2 - 1,324,945行: </a:t>
            </a:r>
            <a:r>
              <a:rPr lang="en" sz="22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著者名のみが欠損（雑誌や学参など著者名が本来不要なカテゴリ</a:t>
            </a:r>
            <a:r>
              <a:rPr lang="en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）</a:t>
            </a:r>
            <a:endParaRPr sz="22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C266CFA0-DD91-EAC3-5986-BA1EFACC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showing a number of people&#10;&#10;AI-generated content may be incorrect.">
            <a:extLst>
              <a:ext uri="{FF2B5EF4-FFF2-40B4-BE49-F238E27FC236}">
                <a16:creationId xmlns:a16="http://schemas.microsoft.com/office/drawing/2014/main" id="{C940FA28-5B76-DE10-7A93-47EE8C4B0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73" y="155997"/>
            <a:ext cx="6978053" cy="4458974"/>
          </a:xfrm>
          <a:prstGeom prst="rect">
            <a:avLst/>
          </a:prstGeom>
        </p:spPr>
      </p:pic>
      <p:sp>
        <p:nvSpPr>
          <p:cNvPr id="3" name="Google Shape;1156;p103">
            <a:extLst>
              <a:ext uri="{FF2B5EF4-FFF2-40B4-BE49-F238E27FC236}">
                <a16:creationId xmlns:a16="http://schemas.microsoft.com/office/drawing/2014/main" id="{3C753768-44A0-B40D-2A17-EF25233DC256}"/>
              </a:ext>
            </a:extLst>
          </p:cNvPr>
          <p:cNvSpPr txBox="1">
            <a:spLocks/>
          </p:cNvSpPr>
          <p:nvPr/>
        </p:nvSpPr>
        <p:spPr>
          <a:xfrm>
            <a:off x="2226352" y="4614971"/>
            <a:ext cx="4691293" cy="573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ja-JP" altLang="en-US" sz="2200" b="1">
                <a:solidFill>
                  <a:schemeClr val="bg1"/>
                </a:solidFill>
              </a:rPr>
              <a:t>パターン</a:t>
            </a:r>
            <a:r>
              <a:rPr lang="en-US" altLang="ja-JP" sz="2200" b="1">
                <a:solidFill>
                  <a:schemeClr val="bg1"/>
                </a:solidFill>
              </a:rPr>
              <a:t>2</a:t>
            </a:r>
            <a:r>
              <a:rPr lang="ja-JP" altLang="en-US" sz="2200" b="1">
                <a:solidFill>
                  <a:schemeClr val="bg1"/>
                </a:solidFill>
              </a:rPr>
              <a:t>に限定した大分類の分布</a:t>
            </a:r>
            <a:endParaRPr lang="en-US" altLang="ja-JP" sz="2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860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, サンバースト図&#10;&#10;AI 生成コンテンツは誤りを含む可能性があります。">
            <a:extLst>
              <a:ext uri="{FF2B5EF4-FFF2-40B4-BE49-F238E27FC236}">
                <a16:creationId xmlns:a16="http://schemas.microsoft.com/office/drawing/2014/main" id="{6E7F7CD5-DE36-EF7D-31E0-AD8E5A1A2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820" y="1080319"/>
            <a:ext cx="7361186" cy="4063181"/>
          </a:xfrm>
          <a:prstGeom prst="rect">
            <a:avLst/>
          </a:prstGeom>
        </p:spPr>
      </p:pic>
      <p:pic>
        <p:nvPicPr>
          <p:cNvPr id="6" name="図 5" descr="グラフ, サンバースト図&#10;&#10;AI 生成コンテンツは誤りを含む可能性があります。">
            <a:extLst>
              <a:ext uri="{FF2B5EF4-FFF2-40B4-BE49-F238E27FC236}">
                <a16:creationId xmlns:a16="http://schemas.microsoft.com/office/drawing/2014/main" id="{A5688086-10FF-5DE0-D9DC-88953F40D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832" y="2868392"/>
            <a:ext cx="4011168" cy="2275108"/>
          </a:xfrm>
          <a:prstGeom prst="rect">
            <a:avLst/>
          </a:prstGeom>
        </p:spPr>
      </p:pic>
      <p:sp>
        <p:nvSpPr>
          <p:cNvPr id="7" name="Google Shape;1266;p120">
            <a:extLst>
              <a:ext uri="{FF2B5EF4-FFF2-40B4-BE49-F238E27FC236}">
                <a16:creationId xmlns:a16="http://schemas.microsoft.com/office/drawing/2014/main" id="{86EA4719-EDA9-6217-2CB4-83FA290D1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3773" y="312619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/>
              <a:t>大分類</a:t>
            </a:r>
            <a:r>
              <a:rPr lang="ja-JP" altLang="en-US" sz="3600" b="1"/>
              <a:t>・中分類・小分類</a:t>
            </a:r>
            <a:endParaRPr sz="3600" b="1"/>
          </a:p>
        </p:txBody>
      </p:sp>
    </p:spTree>
    <p:extLst>
      <p:ext uri="{BB962C8B-B14F-4D97-AF65-F5344CB8AC3E}">
        <p14:creationId xmlns:p14="http://schemas.microsoft.com/office/powerpoint/2010/main" val="419203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20"/>
          <p:cNvSpPr txBox="1">
            <a:spLocks noGrp="1"/>
          </p:cNvSpPr>
          <p:nvPr>
            <p:ph type="title"/>
          </p:nvPr>
        </p:nvSpPr>
        <p:spPr>
          <a:xfrm>
            <a:off x="599117" y="519137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大分類</a:t>
            </a:r>
            <a:endParaRPr sz="4000" b="1"/>
          </a:p>
        </p:txBody>
      </p:sp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B516BE9-E016-4E62-1B66-25F7C411A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5" y="1941747"/>
            <a:ext cx="4454022" cy="2847584"/>
          </a:xfrm>
          <a:prstGeom prst="rect">
            <a:avLst/>
          </a:prstGeom>
        </p:spPr>
      </p:pic>
      <p:sp>
        <p:nvSpPr>
          <p:cNvPr id="4" name="Google Shape;1234;p115">
            <a:extLst>
              <a:ext uri="{FF2B5EF4-FFF2-40B4-BE49-F238E27FC236}">
                <a16:creationId xmlns:a16="http://schemas.microsoft.com/office/drawing/2014/main" id="{AA4F95BD-8AD1-7DBD-142D-822D3613A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44751" y="1721876"/>
            <a:ext cx="3661200" cy="3253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ユニークな数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</a:t>
            </a:r>
            <a:r>
              <a:rPr lang="en-US" altLang="ja-JP" sz="2000" b="1">
                <a:solidFill>
                  <a:srgbClr val="000000"/>
                </a:solidFill>
                <a:latin typeface="+mn-lt"/>
                <a:cs typeface="Arial"/>
                <a:sym typeface="Arial"/>
              </a:rPr>
              <a:t>34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欠損値の数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7017</a:t>
            </a:r>
            <a:endParaRPr lang="en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err="1">
                <a:solidFill>
                  <a:srgbClr val="000000"/>
                </a:solidFill>
                <a:latin typeface="+mn-lt"/>
              </a:rPr>
              <a:t>欠損値の割合</a:t>
            </a:r>
            <a:r>
              <a:rPr lang="en" sz="2000" b="1">
                <a:solidFill>
                  <a:srgbClr val="000000"/>
                </a:solidFill>
                <a:latin typeface="+mn-lt"/>
              </a:rPr>
              <a:t>	0.18%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>
          <a:extLst>
            <a:ext uri="{FF2B5EF4-FFF2-40B4-BE49-F238E27FC236}">
              <a16:creationId xmlns:a16="http://schemas.microsoft.com/office/drawing/2014/main" id="{E797BBC7-AB7F-C482-792F-AC422FE6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20">
            <a:extLst>
              <a:ext uri="{FF2B5EF4-FFF2-40B4-BE49-F238E27FC236}">
                <a16:creationId xmlns:a16="http://schemas.microsoft.com/office/drawing/2014/main" id="{460F660E-85AA-B7C6-1822-0780434A0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大分類</a:t>
            </a:r>
            <a:r>
              <a:rPr lang="ja-JP" altLang="en-US" b="1"/>
              <a:t>に関する分析</a:t>
            </a:r>
            <a:endParaRPr sz="4000" b="1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D22D3F-D08F-AD25-34B4-B82F7B2D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データ全体を基準</a:t>
            </a:r>
            <a:endParaRPr lang="en-US" altLang="ja-JP">
              <a:solidFill>
                <a:schemeClr val="bg2">
                  <a:lumMod val="50000"/>
                </a:schemeClr>
              </a:solidFill>
            </a:endParaRPr>
          </a:p>
          <a:p>
            <a:pPr marL="114300" indent="0">
              <a:buNone/>
            </a:pP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出現回数上位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件で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66.45%(2,638,033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件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JP" altLang="ja-JP">
                <a:solidFill>
                  <a:schemeClr val="accent4">
                    <a:lumMod val="10000"/>
                  </a:schemeClr>
                </a:solidFill>
              </a:rPr>
              <a:t>3,969,881</a:t>
            </a:r>
            <a:r>
              <a:rPr lang="ja-JP" altLang="en-US">
                <a:solidFill>
                  <a:schemeClr val="accent4">
                    <a:lumMod val="10000"/>
                  </a:schemeClr>
                </a:solidFill>
              </a:rPr>
              <a:t>件</a:t>
            </a:r>
            <a:r>
              <a:rPr lang="en-US" altLang="ja-JP">
                <a:solidFill>
                  <a:schemeClr val="accent4">
                    <a:lumMod val="10000"/>
                  </a:schemeClr>
                </a:solidFill>
              </a:rPr>
              <a:t>)</a:t>
            </a:r>
          </a:p>
          <a:p>
            <a:pPr marL="114300" indent="0">
              <a:buNone/>
            </a:pP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→上位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件でデータ全体の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2/3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を占めている。</a:t>
            </a:r>
            <a:endParaRPr lang="en-US" altLang="ja-JP">
              <a:solidFill>
                <a:schemeClr val="bg2">
                  <a:lumMod val="50000"/>
                </a:schemeClr>
              </a:solidFill>
            </a:endParaRPr>
          </a:p>
          <a:p>
            <a:pPr marL="114300" indent="0">
              <a:buNone/>
            </a:pP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      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　（特にコミックが多い）</a:t>
            </a:r>
            <a:endParaRPr lang="en-US" altLang="ja-JP">
              <a:solidFill>
                <a:schemeClr val="bg2">
                  <a:lumMod val="50000"/>
                </a:schemeClr>
              </a:solidFill>
            </a:endParaRPr>
          </a:p>
          <a:p>
            <a:pPr marL="114300" indent="0">
              <a:buNone/>
            </a:pPr>
            <a:endParaRPr lang="en-US" altLang="ja-JP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機械学習時にはダウンサンプリング（</a:t>
            </a:r>
            <a:r>
              <a:rPr lang="en-US" altLang="ja-JP">
                <a:solidFill>
                  <a:schemeClr val="bg2">
                    <a:lumMod val="50000"/>
                  </a:schemeClr>
                </a:solidFill>
              </a:rPr>
              <a:t>SMOTE</a:t>
            </a:r>
            <a:r>
              <a:rPr lang="ja-JP" altLang="en-US">
                <a:solidFill>
                  <a:schemeClr val="bg2">
                    <a:lumMod val="50000"/>
                  </a:schemeClr>
                </a:solidFill>
              </a:rPr>
              <a:t>）を適用し、データバランスを調整する。</a:t>
            </a:r>
            <a:endParaRPr lang="en-US" altLang="ja-JP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531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21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b="1"/>
              <a:t>中分類</a:t>
            </a:r>
            <a:endParaRPr lang="ja-JP" altLang="en-US" sz="40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EC095E6-3956-91BE-765F-174E3201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77" y="1899737"/>
            <a:ext cx="4801752" cy="3069897"/>
          </a:xfrm>
          <a:prstGeom prst="rect">
            <a:avLst/>
          </a:prstGeom>
        </p:spPr>
      </p:pic>
      <p:sp>
        <p:nvSpPr>
          <p:cNvPr id="6" name="Google Shape;1234;p115">
            <a:extLst>
              <a:ext uri="{FF2B5EF4-FFF2-40B4-BE49-F238E27FC236}">
                <a16:creationId xmlns:a16="http://schemas.microsoft.com/office/drawing/2014/main" id="{90D9641D-77C9-7B80-062A-635FB64FC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44751" y="1721876"/>
            <a:ext cx="3661200" cy="3253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ユニークな数	</a:t>
            </a:r>
            <a:r>
              <a:rPr lang="en-US" sz="2000" b="1">
                <a:solidFill>
                  <a:srgbClr val="000000"/>
                </a:solidFill>
                <a:latin typeface="+mn-lt"/>
                <a:cs typeface="Arial"/>
                <a:sym typeface="Arial"/>
              </a:rPr>
              <a:t>299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欠損値の数	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7017</a:t>
            </a:r>
            <a:endParaRPr lang="en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欠損値の割合	0.18%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>
          <a:extLst>
            <a:ext uri="{FF2B5EF4-FFF2-40B4-BE49-F238E27FC236}">
              <a16:creationId xmlns:a16="http://schemas.microsoft.com/office/drawing/2014/main" id="{B55F1657-8094-162E-CE9F-E8149776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21">
            <a:extLst>
              <a:ext uri="{FF2B5EF4-FFF2-40B4-BE49-F238E27FC236}">
                <a16:creationId xmlns:a16="http://schemas.microsoft.com/office/drawing/2014/main" id="{BD2974AD-624C-00B0-777A-2F1422DC0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b="1"/>
              <a:t>中分類に関する分析</a:t>
            </a:r>
            <a:endParaRPr lang="ja-JP" altLang="en-US" sz="4000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EC7979-7D27-76FA-03ED-F7E7F911E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solidFill>
                  <a:srgbClr val="424242"/>
                </a:solidFill>
              </a:rPr>
              <a:t>データ全体を基準</a:t>
            </a:r>
            <a:br>
              <a:rPr lang="ja-JP" altLang="en-US">
                <a:solidFill>
                  <a:srgbClr val="424242"/>
                </a:solidFill>
              </a:rPr>
            </a:br>
            <a:r>
              <a:rPr lang="ja-JP" altLang="en-US">
                <a:solidFill>
                  <a:srgbClr val="424242"/>
                </a:solidFill>
              </a:rPr>
              <a:t>回数上位</a:t>
            </a:r>
            <a:r>
              <a:rPr lang="en-US" altLang="ja-JP">
                <a:solidFill>
                  <a:srgbClr val="424242"/>
                </a:solidFill>
              </a:rPr>
              <a:t>3</a:t>
            </a:r>
            <a:r>
              <a:rPr lang="ja-JP" altLang="en-US">
                <a:solidFill>
                  <a:srgbClr val="424242"/>
                </a:solidFill>
              </a:rPr>
              <a:t>件　</a:t>
            </a:r>
            <a:r>
              <a:rPr lang="en-US" altLang="ja-JP">
                <a:solidFill>
                  <a:srgbClr val="424242"/>
                </a:solidFill>
              </a:rPr>
              <a:t>29.20%</a:t>
            </a:r>
            <a:r>
              <a:rPr lang="ja-JP" altLang="en-US">
                <a:solidFill>
                  <a:srgbClr val="424242"/>
                </a:solidFill>
              </a:rPr>
              <a:t>　1,</a:t>
            </a:r>
            <a:r>
              <a:rPr lang="en-US" altLang="ja-JP">
                <a:solidFill>
                  <a:srgbClr val="424242"/>
                </a:solidFill>
              </a:rPr>
              <a:t>159,368</a:t>
            </a:r>
            <a:r>
              <a:rPr lang="ja-JP" altLang="en-US">
                <a:solidFill>
                  <a:srgbClr val="424242"/>
                </a:solidFill>
              </a:rPr>
              <a:t>件 / 3,969,881件</a:t>
            </a:r>
            <a:endParaRPr lang="en-US" altLang="ja-JP">
              <a:solidFill>
                <a:srgbClr val="424242"/>
              </a:solidFill>
            </a:endParaRPr>
          </a:p>
          <a:p>
            <a:pPr marL="114300" indent="0">
              <a:buNone/>
            </a:pPr>
            <a:r>
              <a:rPr lang="en-US" altLang="ja-JP">
                <a:solidFill>
                  <a:srgbClr val="424242"/>
                </a:solidFill>
              </a:rPr>
              <a:t>      </a:t>
            </a:r>
            <a:r>
              <a:rPr lang="ja-JP" altLang="en-US">
                <a:solidFill>
                  <a:srgbClr val="424242"/>
                </a:solidFill>
              </a:rPr>
              <a:t>→上位</a:t>
            </a:r>
            <a:r>
              <a:rPr lang="en-US" altLang="ja-JP">
                <a:solidFill>
                  <a:srgbClr val="424242"/>
                </a:solidFill>
              </a:rPr>
              <a:t>3</a:t>
            </a:r>
            <a:r>
              <a:rPr lang="ja-JP" altLang="en-US">
                <a:solidFill>
                  <a:srgbClr val="424242"/>
                </a:solidFill>
              </a:rPr>
              <a:t>件で全体の</a:t>
            </a:r>
            <a:r>
              <a:rPr lang="en-US" altLang="ja-JP">
                <a:solidFill>
                  <a:srgbClr val="424242"/>
                </a:solidFill>
              </a:rPr>
              <a:t>3</a:t>
            </a:r>
            <a:r>
              <a:rPr lang="ja-JP" altLang="en-US">
                <a:solidFill>
                  <a:srgbClr val="424242"/>
                </a:solidFill>
              </a:rPr>
              <a:t>割弱を占めている</a:t>
            </a:r>
            <a:endParaRPr lang="en-US" altLang="ja-JP">
              <a:solidFill>
                <a:srgbClr val="424242"/>
              </a:solidFill>
            </a:endParaRPr>
          </a:p>
          <a:p>
            <a:pPr marL="114300" indent="0">
              <a:buNone/>
            </a:pPr>
            <a:endParaRPr lang="en-US" altLang="ja-JP">
              <a:solidFill>
                <a:srgbClr val="424242"/>
              </a:solidFill>
            </a:endParaRPr>
          </a:p>
          <a:p>
            <a:r>
              <a:rPr lang="ja-JP" altLang="en-US">
                <a:solidFill>
                  <a:srgbClr val="424242"/>
                </a:solidFill>
              </a:rPr>
              <a:t>ユニークなデータの上位</a:t>
            </a:r>
            <a:r>
              <a:rPr lang="en-US" altLang="ja-JP">
                <a:solidFill>
                  <a:srgbClr val="424242"/>
                </a:solidFill>
              </a:rPr>
              <a:t>10</a:t>
            </a:r>
            <a:r>
              <a:rPr lang="ja-JP" altLang="en-US">
                <a:solidFill>
                  <a:srgbClr val="424242"/>
                </a:solidFill>
              </a:rPr>
              <a:t>件のうち</a:t>
            </a:r>
            <a:r>
              <a:rPr lang="en-US" altLang="ja-JP">
                <a:solidFill>
                  <a:srgbClr val="424242"/>
                </a:solidFill>
              </a:rPr>
              <a:t>6</a:t>
            </a:r>
            <a:r>
              <a:rPr lang="ja-JP" altLang="en-US">
                <a:solidFill>
                  <a:srgbClr val="424242"/>
                </a:solidFill>
              </a:rPr>
              <a:t>件がコミック</a:t>
            </a:r>
            <a:endParaRPr lang="en-US" altLang="ja-JP">
              <a:solidFill>
                <a:srgbClr val="424242"/>
              </a:solidFill>
            </a:endParaRPr>
          </a:p>
          <a:p>
            <a:pPr marL="114300" indent="0">
              <a:buNone/>
            </a:pPr>
            <a:r>
              <a:rPr lang="ja-JP" altLang="en-US">
                <a:solidFill>
                  <a:srgbClr val="424242"/>
                </a:solidFill>
              </a:rPr>
              <a:t>      →大分類と同様にデータの偏りがみられる。</a:t>
            </a:r>
            <a:endParaRPr lang="en-US" altLang="ja-JP">
              <a:solidFill>
                <a:srgbClr val="424242"/>
              </a:solidFill>
            </a:endParaRPr>
          </a:p>
          <a:p>
            <a:pPr marL="114300" indent="0">
              <a:buNone/>
            </a:pPr>
            <a:endParaRPr lang="en-US" altLang="ja-JP">
              <a:solidFill>
                <a:srgbClr val="424242"/>
              </a:solidFill>
            </a:endParaRPr>
          </a:p>
          <a:p>
            <a:endParaRPr lang="en-US" altLang="ja-JP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377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6CBFD73C-2561-43FD-C98E-B21AF65E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56;p103">
            <a:extLst>
              <a:ext uri="{FF2B5EF4-FFF2-40B4-BE49-F238E27FC236}">
                <a16:creationId xmlns:a16="http://schemas.microsoft.com/office/drawing/2014/main" id="{06C2FC65-6201-6295-480B-0F2E0D4E9795}"/>
              </a:ext>
            </a:extLst>
          </p:cNvPr>
          <p:cNvSpPr txBox="1">
            <a:spLocks/>
          </p:cNvSpPr>
          <p:nvPr/>
        </p:nvSpPr>
        <p:spPr>
          <a:xfrm>
            <a:off x="976873" y="4004935"/>
            <a:ext cx="6995551" cy="1021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他のカラムに比べて離散的</a:t>
            </a:r>
          </a:p>
          <a:p>
            <a:r>
              <a:rPr lang="en-US" altLang="ja-JP" sz="2200" b="1">
                <a:solidFill>
                  <a:schemeClr val="bg1"/>
                </a:solidFill>
              </a:rPr>
              <a:t>    </a:t>
            </a:r>
            <a:r>
              <a:rPr lang="ja-JP" altLang="en-US" sz="2200" b="1">
                <a:solidFill>
                  <a:schemeClr val="bg1"/>
                </a:solidFill>
              </a:rPr>
              <a:t>→ユニークなデータ数が少ないため妥当</a:t>
            </a:r>
            <a:endParaRPr lang="en-US" altLang="ja-JP" sz="2200" b="1">
              <a:solidFill>
                <a:schemeClr val="bg1"/>
              </a:solidFill>
            </a:endParaRPr>
          </a:p>
          <a:p>
            <a:endParaRPr lang="en-US" altLang="ja-JP" sz="2200" b="1">
              <a:solidFill>
                <a:schemeClr val="bg1"/>
              </a:solidFill>
            </a:endParaRPr>
          </a:p>
        </p:txBody>
      </p:sp>
      <p:pic>
        <p:nvPicPr>
          <p:cNvPr id="3" name="図 2" descr="グラフ, 棒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40FDC086-ECCE-FA95-442F-F2E5CFA7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37" y="117253"/>
            <a:ext cx="8284155" cy="36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63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22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小分類</a:t>
            </a:r>
            <a:endParaRPr sz="4000" b="1"/>
          </a:p>
        </p:txBody>
      </p:sp>
      <p:pic>
        <p:nvPicPr>
          <p:cNvPr id="5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F622B46-492F-8759-F3BC-C148B1AF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74" y="1803045"/>
            <a:ext cx="5033572" cy="3218106"/>
          </a:xfrm>
          <a:prstGeom prst="rect">
            <a:avLst/>
          </a:prstGeom>
        </p:spPr>
      </p:pic>
      <p:sp>
        <p:nvSpPr>
          <p:cNvPr id="6" name="Google Shape;1234;p115">
            <a:extLst>
              <a:ext uri="{FF2B5EF4-FFF2-40B4-BE49-F238E27FC236}">
                <a16:creationId xmlns:a16="http://schemas.microsoft.com/office/drawing/2014/main" id="{2CC986A1-57C5-FB27-CEAA-A8874A933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44751" y="1721876"/>
            <a:ext cx="3661200" cy="3253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ユニークな数	</a:t>
            </a:r>
            <a:r>
              <a:rPr lang="en-US" sz="2000" b="1">
                <a:solidFill>
                  <a:srgbClr val="000000"/>
                </a:solidFill>
                <a:latin typeface="+mn-lt"/>
                <a:cs typeface="Arial"/>
                <a:sym typeface="Arial"/>
              </a:rPr>
              <a:t>2254</a:t>
            </a:r>
            <a:endParaRPr sz="20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欠損値の数	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7017</a:t>
            </a:r>
            <a:endParaRPr lang="en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+mn-lt"/>
              </a:rPr>
              <a:t>欠損値の割合	0.18%</a:t>
            </a: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出現回数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1000</a:t>
            </a: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回未満</a:t>
            </a:r>
            <a:endParaRPr lang="en" altLang="ja-JP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ts val="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　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76.62%</a:t>
            </a: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（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1,727</a:t>
            </a: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件</a:t>
            </a:r>
            <a:r>
              <a:rPr lang="en-US" altLang="ja-JP" sz="2000" b="1">
                <a:solidFill>
                  <a:srgbClr val="000000"/>
                </a:solidFill>
                <a:latin typeface="+mn-lt"/>
              </a:rPr>
              <a:t>/2254</a:t>
            </a: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件）</a:t>
            </a:r>
            <a:endParaRPr lang="en-US" altLang="ja-JP" sz="2000" b="1">
              <a:solidFill>
                <a:srgbClr val="0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000" b="1">
                <a:solidFill>
                  <a:srgbClr val="000000"/>
                </a:solidFill>
                <a:latin typeface="+mn-lt"/>
              </a:rPr>
              <a:t>→ロングテール</a:t>
            </a:r>
            <a:endParaRPr lang="en-US" altLang="ja-JP" sz="2000" b="1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CC64A7CB-BAE3-B97A-134B-06948BEB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56;p103">
            <a:extLst>
              <a:ext uri="{FF2B5EF4-FFF2-40B4-BE49-F238E27FC236}">
                <a16:creationId xmlns:a16="http://schemas.microsoft.com/office/drawing/2014/main" id="{CCEEB2C3-2418-389F-9D57-9F01D989C64D}"/>
              </a:ext>
            </a:extLst>
          </p:cNvPr>
          <p:cNvSpPr txBox="1">
            <a:spLocks/>
          </p:cNvSpPr>
          <p:nvPr/>
        </p:nvSpPr>
        <p:spPr>
          <a:xfrm>
            <a:off x="976873" y="4004935"/>
            <a:ext cx="6995551" cy="1021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出版社のグラフと酷似</a:t>
            </a:r>
            <a:endParaRPr lang="en-US" altLang="ja-JP" sz="2200" b="1">
              <a:solidFill>
                <a:schemeClr val="bg1"/>
              </a:solidFill>
            </a:endParaRPr>
          </a:p>
        </p:txBody>
      </p:sp>
      <p:pic>
        <p:nvPicPr>
          <p:cNvPr id="4" name="図 3" descr="グラフ, 棒グラフ, ヒストグラム">
            <a:extLst>
              <a:ext uri="{FF2B5EF4-FFF2-40B4-BE49-F238E27FC236}">
                <a16:creationId xmlns:a16="http://schemas.microsoft.com/office/drawing/2014/main" id="{1EC9F70E-92B7-D644-DAE0-64F33792D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5" y="207405"/>
            <a:ext cx="8168425" cy="36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93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>
          <a:extLst>
            <a:ext uri="{FF2B5EF4-FFF2-40B4-BE49-F238E27FC236}">
              <a16:creationId xmlns:a16="http://schemas.microsoft.com/office/drawing/2014/main" id="{B2C059E2-694F-1A1B-9651-83639503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22">
            <a:extLst>
              <a:ext uri="{FF2B5EF4-FFF2-40B4-BE49-F238E27FC236}">
                <a16:creationId xmlns:a16="http://schemas.microsoft.com/office/drawing/2014/main" id="{30E8F416-E6C1-C987-EF03-F183F3EE9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b="1"/>
              <a:t>大分類、中分類、</a:t>
            </a:r>
            <a:r>
              <a:rPr lang="en" b="1"/>
              <a:t>小分類</a:t>
            </a:r>
            <a:r>
              <a:rPr lang="ja-JP" altLang="en-US" b="1"/>
              <a:t>の欠損値の分析</a:t>
            </a:r>
            <a:endParaRPr sz="4000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70109B-30B4-80F7-70F9-81FEFD77B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欠損値の数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7017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は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パターンある</a:t>
            </a:r>
          </a:p>
          <a:p>
            <a:endParaRPr lang="en-US" altLang="ja-JP" b="1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パターン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1- 6,736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行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 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著者名・出版社・書名・本体価格が全て欠損（多くの情報が抜けている不完全なレコード）</a:t>
            </a:r>
            <a:endParaRPr lang="en-US" altLang="ja-JP" b="1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endParaRPr lang="en-US" altLang="ja-JP" b="1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パターン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2 - 281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行</a:t>
            </a:r>
            <a:r>
              <a:rPr lang="en-US" altLang="ja-JP" b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 </a:t>
            </a:r>
            <a:r>
              <a:rPr lang="ja-JP" altLang="en-US" b="1">
                <a:solidFill>
                  <a:srgbClr val="000000"/>
                </a:solidFill>
                <a:latin typeface="Roboto" panose="02000000000000000000" pitchFamily="2" charset="0"/>
                <a:ea typeface="Arial"/>
                <a:cs typeface="Roboto" panose="02000000000000000000" pitchFamily="2" charset="0"/>
                <a:sym typeface="Arial"/>
              </a:rPr>
              <a:t>分類がすべて欠損（シールブックや指人形絵本のような子供向けの物が大半）</a:t>
            </a:r>
            <a:endParaRPr lang="en-US" altLang="ja-JP" b="1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  <a:p>
            <a:endParaRPr lang="ja-JP" altLang="en-US" b="1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00438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23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本体価格</a:t>
            </a:r>
            <a:endParaRPr sz="4000" b="1"/>
          </a:p>
        </p:txBody>
      </p:sp>
      <p:sp>
        <p:nvSpPr>
          <p:cNvPr id="8" name="Google Shape;1234;p115">
            <a:extLst>
              <a:ext uri="{FF2B5EF4-FFF2-40B4-BE49-F238E27FC236}">
                <a16:creationId xmlns:a16="http://schemas.microsoft.com/office/drawing/2014/main" id="{9A4A6388-E731-5FF0-D539-22C5EC813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81310" y="1852590"/>
            <a:ext cx="3661200" cy="3253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200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ユニークな数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	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  <a:cs typeface="Arial"/>
                <a:sym typeface="Arial"/>
              </a:rPr>
              <a:t>1,034</a:t>
            </a:r>
            <a:endParaRPr lang="ja-JP" altLang="en-US" sz="2200" b="1">
              <a:solidFill>
                <a:schemeClr val="bg2">
                  <a:lumMod val="5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200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欠損値の数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	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  <a:cs typeface="Arial"/>
                <a:sym typeface="Arial"/>
              </a:rPr>
              <a:t>6736</a:t>
            </a:r>
            <a:endParaRPr lang="ja-JP" altLang="en-US" sz="2200" b="1">
              <a:solidFill>
                <a:schemeClr val="bg2">
                  <a:lumMod val="5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ja-JP" altLang="en-US" sz="2200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欠損値の割合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	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  <a:cs typeface="Arial"/>
                <a:sym typeface="Arial"/>
              </a:rPr>
              <a:t>0.17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%</a:t>
            </a:r>
          </a:p>
          <a:p>
            <a:pPr marL="342900">
              <a:lnSpc>
                <a:spcPct val="100000"/>
              </a:lnSpc>
              <a:spcBef>
                <a:spcPts val="1600"/>
              </a:spcBef>
            </a:pP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データの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96.9%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が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2000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円以下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(3,838,600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件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/3,963,145</a:t>
            </a:r>
            <a:r>
              <a:rPr lang="ja-JP" altLang="en-US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件</a:t>
            </a:r>
            <a:r>
              <a:rPr lang="en-US" altLang="ja-JP" sz="2200" b="1">
                <a:solidFill>
                  <a:schemeClr val="bg2">
                    <a:lumMod val="50000"/>
                  </a:schemeClr>
                </a:solidFill>
                <a:latin typeface="+mn-lt"/>
              </a:rPr>
              <a:t>)</a:t>
            </a:r>
            <a:endParaRPr lang="ja-JP" altLang="en-US" sz="2200" b="1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12" name="Picture 11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8B26800D-8F47-05AF-AF03-8A4C6A1DA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35" y="1721877"/>
            <a:ext cx="4351234" cy="32532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>
          <a:extLst>
            <a:ext uri="{FF2B5EF4-FFF2-40B4-BE49-F238E27FC236}">
              <a16:creationId xmlns:a16="http://schemas.microsoft.com/office/drawing/2014/main" id="{DEA3AA81-DF09-9F13-EB46-134F16BF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56;p103">
            <a:extLst>
              <a:ext uri="{FF2B5EF4-FFF2-40B4-BE49-F238E27FC236}">
                <a16:creationId xmlns:a16="http://schemas.microsoft.com/office/drawing/2014/main" id="{7A83265A-295E-5AEF-B6EF-4850DEAD2A43}"/>
              </a:ext>
            </a:extLst>
          </p:cNvPr>
          <p:cNvSpPr txBox="1">
            <a:spLocks/>
          </p:cNvSpPr>
          <p:nvPr/>
        </p:nvSpPr>
        <p:spPr>
          <a:xfrm>
            <a:off x="556064" y="4083138"/>
            <a:ext cx="8188140" cy="1060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200" b="1">
                <a:solidFill>
                  <a:schemeClr val="bg1"/>
                </a:solidFill>
              </a:rPr>
              <a:t>デルタ関数のように特定の金額に突出</a:t>
            </a:r>
            <a:endParaRPr lang="en-US" altLang="ja-JP" sz="2200" b="1">
              <a:solidFill>
                <a:schemeClr val="bg1"/>
              </a:solidFill>
            </a:endParaRPr>
          </a:p>
          <a:p>
            <a:r>
              <a:rPr lang="en-US" altLang="ja-JP" sz="2000" b="1">
                <a:solidFill>
                  <a:schemeClr val="bg1"/>
                </a:solidFill>
              </a:rPr>
              <a:t>e.g. </a:t>
            </a:r>
            <a:r>
              <a:rPr lang="ja-JP" altLang="en-US" sz="2000">
                <a:solidFill>
                  <a:schemeClr val="bg1"/>
                </a:solidFill>
              </a:rPr>
              <a:t>  </a:t>
            </a:r>
            <a:r>
              <a:rPr lang="en-US" altLang="ja-JP" sz="2000">
                <a:solidFill>
                  <a:schemeClr val="bg1"/>
                </a:solidFill>
              </a:rPr>
              <a:t>700</a:t>
            </a:r>
            <a:r>
              <a:rPr lang="ja-JP" altLang="en-US" sz="2000">
                <a:solidFill>
                  <a:schemeClr val="bg1"/>
                </a:solidFill>
              </a:rPr>
              <a:t>円</a:t>
            </a:r>
            <a:r>
              <a:rPr lang="en-US" altLang="ja-JP" sz="2000">
                <a:solidFill>
                  <a:schemeClr val="bg1"/>
                </a:solidFill>
              </a:rPr>
              <a:t>: 180,084</a:t>
            </a:r>
            <a:r>
              <a:rPr lang="ja-JP" altLang="en-US" sz="2000">
                <a:solidFill>
                  <a:schemeClr val="bg1"/>
                </a:solidFill>
              </a:rPr>
              <a:t>件，</a:t>
            </a:r>
            <a:r>
              <a:rPr lang="en-US" altLang="ja-JP" sz="2000">
                <a:solidFill>
                  <a:schemeClr val="bg1"/>
                </a:solidFill>
              </a:rPr>
              <a:t>1000</a:t>
            </a:r>
            <a:r>
              <a:rPr lang="ja-JP" altLang="en-US" sz="2000">
                <a:solidFill>
                  <a:schemeClr val="bg1"/>
                </a:solidFill>
              </a:rPr>
              <a:t>円</a:t>
            </a:r>
            <a:r>
              <a:rPr lang="en-US" altLang="ja-JP" sz="2000">
                <a:solidFill>
                  <a:schemeClr val="bg1"/>
                </a:solidFill>
              </a:rPr>
              <a:t>: 132,948</a:t>
            </a:r>
            <a:r>
              <a:rPr lang="ja-JP" altLang="en-US" sz="2000">
                <a:solidFill>
                  <a:schemeClr val="bg1"/>
                </a:solidFill>
              </a:rPr>
              <a:t>件，</a:t>
            </a:r>
            <a:r>
              <a:rPr lang="en-US" altLang="ja-JP" sz="2000">
                <a:solidFill>
                  <a:schemeClr val="bg1"/>
                </a:solidFill>
              </a:rPr>
              <a:t>1500</a:t>
            </a:r>
            <a:r>
              <a:rPr lang="ja-JP" altLang="en-US" sz="2000">
                <a:solidFill>
                  <a:schemeClr val="bg1"/>
                </a:solidFill>
              </a:rPr>
              <a:t>円</a:t>
            </a:r>
            <a:r>
              <a:rPr lang="en-US" altLang="ja-JP" sz="2000">
                <a:solidFill>
                  <a:schemeClr val="bg1"/>
                </a:solidFill>
              </a:rPr>
              <a:t>: 129,019</a:t>
            </a:r>
            <a:r>
              <a:rPr lang="ja-JP" altLang="en-US" sz="2000">
                <a:solidFill>
                  <a:schemeClr val="bg1"/>
                </a:solidFill>
              </a:rPr>
              <a:t>件</a:t>
            </a:r>
          </a:p>
        </p:txBody>
      </p:sp>
      <p:pic>
        <p:nvPicPr>
          <p:cNvPr id="10" name="Picture 9" descr="A graph with blue lines&#10;&#10;AI-generated content may be incorrect.">
            <a:extLst>
              <a:ext uri="{FF2B5EF4-FFF2-40B4-BE49-F238E27FC236}">
                <a16:creationId xmlns:a16="http://schemas.microsoft.com/office/drawing/2014/main" id="{A60B3E84-5A82-32B1-60F6-B06EDB8F2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64" y="294110"/>
            <a:ext cx="8024575" cy="35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6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24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POS販売冊数</a:t>
            </a:r>
            <a:endParaRPr sz="4000" b="1"/>
          </a:p>
        </p:txBody>
      </p:sp>
      <p:sp>
        <p:nvSpPr>
          <p:cNvPr id="1290" name="Google Shape;1290;p124"/>
          <p:cNvSpPr txBox="1">
            <a:spLocks noGrp="1"/>
          </p:cNvSpPr>
          <p:nvPr>
            <p:ph type="body" idx="1"/>
          </p:nvPr>
        </p:nvSpPr>
        <p:spPr>
          <a:xfrm>
            <a:off x="5146691" y="1568022"/>
            <a:ext cx="4094291" cy="357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ユニークな署名数	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168</a:t>
            </a:r>
            <a:endParaRPr lang="ja-JP" altLang="en-US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欠損値の数		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0</a:t>
            </a:r>
            <a:endParaRPr lang="ja-JP" altLang="en-US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欠損値の割合		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0.0%</a:t>
            </a:r>
            <a:endParaRPr lang="ja-JP" altLang="en-US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indent="-368300">
              <a:lnSpc>
                <a:spcPct val="150000"/>
              </a:lnSpc>
              <a:buClr>
                <a:srgbClr val="000000"/>
              </a:buClr>
              <a:buSzPts val="2200"/>
              <a:buFont typeface="Arial"/>
              <a:buChar char="●"/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最低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-16, 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最高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309</a:t>
            </a:r>
          </a:p>
          <a:p>
            <a:pPr indent="-368300">
              <a:lnSpc>
                <a:spcPct val="150000"/>
              </a:lnSpc>
              <a:buClr>
                <a:srgbClr val="000000"/>
              </a:buClr>
              <a:buSzPts val="2200"/>
              <a:buFont typeface="Arial"/>
              <a:buChar char="●"/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全体</a:t>
            </a:r>
            <a:r>
              <a:rPr lang="ja-JP" alt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の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90.64%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が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冊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ja-JP" alt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負のデータが存在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(1690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件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</a:p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※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返品処理とのこと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A20E0DB5-E9F9-D5C4-1F9E-7A9DDB92E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13" y="2283268"/>
            <a:ext cx="4635730" cy="206859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6054C4-149B-6CAF-9B1C-DC6DCF971E57}"/>
              </a:ext>
            </a:extLst>
          </p:cNvPr>
          <p:cNvSpPr/>
          <p:nvPr/>
        </p:nvSpPr>
        <p:spPr>
          <a:xfrm>
            <a:off x="-62345" y="-98027"/>
            <a:ext cx="9268690" cy="18168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01" name="Google Shape;1301;p126"/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err="1"/>
              <a:t>カラムの従属性</a:t>
            </a:r>
            <a:endParaRPr sz="4000" b="1"/>
          </a:p>
        </p:txBody>
      </p:sp>
      <p:pic>
        <p:nvPicPr>
          <p:cNvPr id="5" name="図 3" descr="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2DF84986-036B-12CC-D2CF-00D703609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68" y="2051125"/>
            <a:ext cx="1983124" cy="1325593"/>
          </a:xfrm>
          <a:prstGeom prst="rect">
            <a:avLst/>
          </a:prstGeom>
        </p:spPr>
      </p:pic>
      <p:pic>
        <p:nvPicPr>
          <p:cNvPr id="7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2E49BC3C-6718-D33C-4751-6E8258A67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424672"/>
            <a:ext cx="2073412" cy="1325593"/>
          </a:xfrm>
          <a:prstGeom prst="rect">
            <a:avLst/>
          </a:prstGeom>
        </p:spPr>
      </p:pic>
      <p:pic>
        <p:nvPicPr>
          <p:cNvPr id="8" name="図 2">
            <a:extLst>
              <a:ext uri="{FF2B5EF4-FFF2-40B4-BE49-F238E27FC236}">
                <a16:creationId xmlns:a16="http://schemas.microsoft.com/office/drawing/2014/main" id="{D1E5D2AE-3680-1E19-35B8-342423E55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483" y="3424672"/>
            <a:ext cx="2073412" cy="1361527"/>
          </a:xfrm>
          <a:prstGeom prst="rect">
            <a:avLst/>
          </a:prstGeom>
        </p:spPr>
      </p:pic>
      <p:pic>
        <p:nvPicPr>
          <p:cNvPr id="9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4400F58-8D3A-C128-1780-2DA174725B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1483" y="2051125"/>
            <a:ext cx="2073412" cy="1325593"/>
          </a:xfrm>
          <a:prstGeom prst="rect">
            <a:avLst/>
          </a:prstGeom>
        </p:spPr>
      </p:pic>
      <p:sp>
        <p:nvSpPr>
          <p:cNvPr id="1333" name="Google Shape;1290;p124">
            <a:extLst>
              <a:ext uri="{FF2B5EF4-FFF2-40B4-BE49-F238E27FC236}">
                <a16:creationId xmlns:a16="http://schemas.microsoft.com/office/drawing/2014/main" id="{C0484E92-48A0-379F-3D16-A297C2A97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7025" y="2166821"/>
            <a:ext cx="4122000" cy="24197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lnSpc>
                <a:spcPct val="150000"/>
              </a:lnSpc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明らかに同形</a:t>
            </a:r>
            <a:endParaRPr lang="en-US" altLang="ja-JP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lnSpc>
                <a:spcPct val="150000"/>
              </a:lnSpc>
            </a:pP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相関というか，決定的に決まっているものがある</a:t>
            </a:r>
            <a:endParaRPr lang="en-US" altLang="ja-JP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e.g. 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書名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→{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著者名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,</a:t>
            </a:r>
            <a:r>
              <a:rPr lang="ja-JP" altLang="en-US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本体価格</a:t>
            </a:r>
            <a:r>
              <a:rPr lang="en-US" altLang="ja-JP" sz="2200" b="1">
                <a:solidFill>
                  <a:schemeClr val="accent4">
                    <a:lumMod val="10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}</a:t>
            </a:r>
          </a:p>
          <a:p>
            <a:pPr marL="0" indent="0">
              <a:lnSpc>
                <a:spcPct val="150000"/>
              </a:lnSpc>
              <a:buNone/>
            </a:pPr>
            <a:endParaRPr lang="ja-JP" altLang="en-US" sz="2200" b="1">
              <a:solidFill>
                <a:schemeClr val="accent4">
                  <a:lumMod val="10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>
          <a:extLst>
            <a:ext uri="{FF2B5EF4-FFF2-40B4-BE49-F238E27FC236}">
              <a16:creationId xmlns:a16="http://schemas.microsoft.com/office/drawing/2014/main" id="{C29B173C-F234-45EA-5D13-416FCB67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79B72-6C2E-168D-0692-96A3727426F3}"/>
              </a:ext>
            </a:extLst>
          </p:cNvPr>
          <p:cNvSpPr/>
          <p:nvPr/>
        </p:nvSpPr>
        <p:spPr>
          <a:xfrm>
            <a:off x="4875924" y="-105209"/>
            <a:ext cx="4696690" cy="56814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244C13-82DC-9BC1-E2AC-7C54B5A144AA}"/>
              </a:ext>
            </a:extLst>
          </p:cNvPr>
          <p:cNvGrpSpPr/>
          <p:nvPr/>
        </p:nvGrpSpPr>
        <p:grpSpPr>
          <a:xfrm>
            <a:off x="161927" y="286538"/>
            <a:ext cx="4534763" cy="4570424"/>
            <a:chOff x="4316182" y="328181"/>
            <a:chExt cx="4534763" cy="457042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2C7317D-6F3A-5940-B72C-0FE3565CDA45}"/>
                </a:ext>
              </a:extLst>
            </p:cNvPr>
            <p:cNvSpPr/>
            <p:nvPr/>
          </p:nvSpPr>
          <p:spPr>
            <a:xfrm>
              <a:off x="6582280" y="328181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ISBN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C4DFEBF-4E35-70D1-1304-5F2754C6476E}"/>
                </a:ext>
              </a:extLst>
            </p:cNvPr>
            <p:cNvSpPr/>
            <p:nvPr/>
          </p:nvSpPr>
          <p:spPr>
            <a:xfrm>
              <a:off x="4316182" y="2239069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出版社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9BBB60-2EC5-ACDD-AE7B-57491619C738}"/>
                </a:ext>
              </a:extLst>
            </p:cNvPr>
            <p:cNvSpPr/>
            <p:nvPr/>
          </p:nvSpPr>
          <p:spPr>
            <a:xfrm>
              <a:off x="7831791" y="3066249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中分類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D66D8D-AF27-7D22-0744-1CE189303760}"/>
                </a:ext>
              </a:extLst>
            </p:cNvPr>
            <p:cNvSpPr/>
            <p:nvPr/>
          </p:nvSpPr>
          <p:spPr>
            <a:xfrm>
              <a:off x="6812637" y="2239069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小分類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F0AC08-7092-5AB9-6007-D4ED580F176F}"/>
                </a:ext>
              </a:extLst>
            </p:cNvPr>
            <p:cNvSpPr/>
            <p:nvPr/>
          </p:nvSpPr>
          <p:spPr>
            <a:xfrm>
              <a:off x="5564880" y="1152918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書名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09A7E0-8483-F292-7DDA-DCB765975897}"/>
                </a:ext>
              </a:extLst>
            </p:cNvPr>
            <p:cNvSpPr/>
            <p:nvPr/>
          </p:nvSpPr>
          <p:spPr>
            <a:xfrm>
              <a:off x="5564409" y="2239069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著者名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A95785-6AD1-8CE4-CB70-4D7A2C09E3A5}"/>
                </a:ext>
              </a:extLst>
            </p:cNvPr>
            <p:cNvSpPr/>
            <p:nvPr/>
          </p:nvSpPr>
          <p:spPr>
            <a:xfrm>
              <a:off x="7599679" y="1137409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本体価格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57AA79D-21D7-1B56-3C34-1C6FCB83D31A}"/>
                </a:ext>
              </a:extLst>
            </p:cNvPr>
            <p:cNvSpPr/>
            <p:nvPr/>
          </p:nvSpPr>
          <p:spPr>
            <a:xfrm>
              <a:off x="6812637" y="3905595"/>
              <a:ext cx="1019154" cy="99301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/>
                <a:t>大分類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62D923-BF4E-D974-7D31-0AA594F535F6}"/>
                </a:ext>
              </a:extLst>
            </p:cNvPr>
            <p:cNvCxnSpPr>
              <a:cxnSpLocks/>
              <a:stCxn id="4" idx="3"/>
              <a:endCxn id="8" idx="7"/>
            </p:cNvCxnSpPr>
            <p:nvPr/>
          </p:nvCxnSpPr>
          <p:spPr>
            <a:xfrm flipH="1">
              <a:off x="6434782" y="1175768"/>
              <a:ext cx="296750" cy="122573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C9A2BBB-21A1-EC8F-C087-78AB1D3562BD}"/>
                </a:ext>
              </a:extLst>
            </p:cNvPr>
            <p:cNvCxnSpPr>
              <a:cxnSpLocks/>
              <a:stCxn id="8" idx="5"/>
              <a:endCxn id="7" idx="1"/>
            </p:cNvCxnSpPr>
            <p:nvPr/>
          </p:nvCxnSpPr>
          <p:spPr>
            <a:xfrm>
              <a:off x="6434782" y="2000505"/>
              <a:ext cx="527107" cy="383987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0FE1CB8-2B99-3B28-A5A2-8EA58E72202C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V="1">
              <a:off x="6073986" y="2145928"/>
              <a:ext cx="471" cy="93141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D2F853-78A2-B6EF-2B2D-F4A5C921BE30}"/>
                </a:ext>
              </a:extLst>
            </p:cNvPr>
            <p:cNvCxnSpPr>
              <a:cxnSpLocks/>
              <a:stCxn id="8" idx="3"/>
              <a:endCxn id="5" idx="7"/>
            </p:cNvCxnSpPr>
            <p:nvPr/>
          </p:nvCxnSpPr>
          <p:spPr>
            <a:xfrm flipH="1">
              <a:off x="5186084" y="2000505"/>
              <a:ext cx="528048" cy="383987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570CA3A-628A-D399-1881-207BA05C8679}"/>
                </a:ext>
              </a:extLst>
            </p:cNvPr>
            <p:cNvCxnSpPr>
              <a:cxnSpLocks/>
              <a:stCxn id="4" idx="5"/>
              <a:endCxn id="10" idx="1"/>
            </p:cNvCxnSpPr>
            <p:nvPr/>
          </p:nvCxnSpPr>
          <p:spPr>
            <a:xfrm>
              <a:off x="7452182" y="1175768"/>
              <a:ext cx="296749" cy="10706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91C96F0-B721-3271-D33F-560279AD2F86}"/>
                </a:ext>
              </a:extLst>
            </p:cNvPr>
            <p:cNvCxnSpPr>
              <a:cxnSpLocks/>
              <a:stCxn id="6" idx="3"/>
              <a:endCxn id="11" idx="7"/>
            </p:cNvCxnSpPr>
            <p:nvPr/>
          </p:nvCxnSpPr>
          <p:spPr>
            <a:xfrm flipH="1">
              <a:off x="7682539" y="3913836"/>
              <a:ext cx="298504" cy="137182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61E1F4-0C1F-A3EC-E5E8-FD0BAFF60883}"/>
                </a:ext>
              </a:extLst>
            </p:cNvPr>
            <p:cNvCxnSpPr>
              <a:cxnSpLocks/>
              <a:stCxn id="6" idx="1"/>
              <a:endCxn id="7" idx="5"/>
            </p:cNvCxnSpPr>
            <p:nvPr/>
          </p:nvCxnSpPr>
          <p:spPr>
            <a:xfrm flipH="1" flipV="1">
              <a:off x="7682539" y="3086656"/>
              <a:ext cx="298504" cy="12501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Google Shape;1328;p130">
            <a:extLst>
              <a:ext uri="{FF2B5EF4-FFF2-40B4-BE49-F238E27FC236}">
                <a16:creationId xmlns:a16="http://schemas.microsoft.com/office/drawing/2014/main" id="{29609695-85C7-891A-DB4B-80682175888C}"/>
              </a:ext>
            </a:extLst>
          </p:cNvPr>
          <p:cNvSpPr txBox="1">
            <a:spLocks/>
          </p:cNvSpPr>
          <p:nvPr/>
        </p:nvSpPr>
        <p:spPr>
          <a:xfrm>
            <a:off x="54027" y="3863952"/>
            <a:ext cx="2552805" cy="4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カラム同士の依存関係</a:t>
            </a: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buFont typeface="Roboto"/>
              <a:buNone/>
            </a:pP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1" name="Google Shape;1290;p124">
            <a:extLst>
              <a:ext uri="{FF2B5EF4-FFF2-40B4-BE49-F238E27FC236}">
                <a16:creationId xmlns:a16="http://schemas.microsoft.com/office/drawing/2014/main" id="{18A90A2B-21BC-C5ED-12D2-713D69C8599C}"/>
              </a:ext>
            </a:extLst>
          </p:cNvPr>
          <p:cNvSpPr txBox="1">
            <a:spLocks/>
          </p:cNvSpPr>
          <p:nvPr/>
        </p:nvSpPr>
        <p:spPr>
          <a:xfrm>
            <a:off x="5022000" y="-46883"/>
            <a:ext cx="4122000" cy="5190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bg1"/>
                </a:solidFill>
                <a:latin typeface="+mn-lt"/>
              </a:rPr>
              <a:t>上層が決まれば決定的に下層が確定</a:t>
            </a:r>
            <a:r>
              <a:rPr lang="en-US" altLang="ja-JP" sz="2000">
                <a:solidFill>
                  <a:schemeClr val="bg1"/>
                </a:solidFill>
                <a:latin typeface="+mn-lt"/>
              </a:rPr>
              <a:t>(</a:t>
            </a:r>
            <a:r>
              <a:rPr lang="ja-JP" altLang="en-US" sz="2000">
                <a:solidFill>
                  <a:schemeClr val="bg1"/>
                </a:solidFill>
                <a:latin typeface="+mn-lt"/>
              </a:rPr>
              <a:t>左の依存関係にあるカラムを</a:t>
            </a:r>
            <a:r>
              <a:rPr lang="en-US" altLang="ja-JP" sz="2000">
                <a:solidFill>
                  <a:schemeClr val="bg1"/>
                </a:solidFill>
                <a:latin typeface="+mn-lt"/>
              </a:rPr>
              <a:t>ISBN</a:t>
            </a:r>
            <a:r>
              <a:rPr lang="ja-JP" altLang="en-US" sz="2000">
                <a:solidFill>
                  <a:schemeClr val="bg1"/>
                </a:solidFill>
                <a:latin typeface="+mn-lt"/>
              </a:rPr>
              <a:t>郡とする</a:t>
            </a:r>
            <a:r>
              <a:rPr lang="en-US" altLang="ja-JP" sz="2000">
                <a:solidFill>
                  <a:schemeClr val="bg1"/>
                </a:solidFill>
                <a:latin typeface="+mn-lt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bg1"/>
                </a:solidFill>
                <a:latin typeface="+mn-lt"/>
              </a:rPr>
              <a:t>独立したカラムは「日付」「書店コード」「</a:t>
            </a:r>
            <a:r>
              <a:rPr lang="en-US" altLang="ja-JP" sz="2000">
                <a:solidFill>
                  <a:schemeClr val="bg1"/>
                </a:solidFill>
                <a:latin typeface="+mn-lt"/>
              </a:rPr>
              <a:t>ISBN</a:t>
            </a:r>
            <a:r>
              <a:rPr lang="ja-JP" altLang="en-US" sz="2000">
                <a:solidFill>
                  <a:schemeClr val="bg1"/>
                </a:solidFill>
                <a:latin typeface="+mn-lt"/>
              </a:rPr>
              <a:t>郡」「</a:t>
            </a:r>
            <a:r>
              <a:rPr lang="en-US" altLang="ja-JP" sz="2000">
                <a:solidFill>
                  <a:schemeClr val="bg1"/>
                </a:solidFill>
                <a:latin typeface="+mn-lt"/>
              </a:rPr>
              <a:t>POS</a:t>
            </a:r>
            <a:r>
              <a:rPr lang="ja-JP" altLang="en-US" sz="2000">
                <a:solidFill>
                  <a:schemeClr val="bg1"/>
                </a:solidFill>
                <a:latin typeface="+mn-lt"/>
              </a:rPr>
              <a:t>販売冊数」の</a:t>
            </a:r>
            <a:r>
              <a:rPr lang="en-JP" altLang="ja-JP" sz="2000">
                <a:solidFill>
                  <a:schemeClr val="bg1"/>
                </a:solidFill>
                <a:latin typeface="+mn-lt"/>
              </a:rPr>
              <a:t>4</a:t>
            </a:r>
            <a:r>
              <a:rPr lang="ja-JP" altLang="en-JP" sz="2000">
                <a:solidFill>
                  <a:schemeClr val="bg1"/>
                </a:solidFill>
                <a:latin typeface="+mn-lt"/>
              </a:rPr>
              <a:t>つ</a:t>
            </a:r>
            <a:endParaRPr lang="en-US" altLang="ja-JP" sz="2000">
              <a:solidFill>
                <a:schemeClr val="bg1"/>
              </a:solidFill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bg1"/>
                </a:solidFill>
                <a:latin typeface="+mn-lt"/>
              </a:rPr>
              <a:t>従属したカラムに意味を持たせるには他のレコードを参照するような特徴量エンジニアリングが必要</a:t>
            </a:r>
          </a:p>
        </p:txBody>
      </p:sp>
      <p:sp>
        <p:nvSpPr>
          <p:cNvPr id="22" name="Google Shape;1328;p130">
            <a:extLst>
              <a:ext uri="{FF2B5EF4-FFF2-40B4-BE49-F238E27FC236}">
                <a16:creationId xmlns:a16="http://schemas.microsoft.com/office/drawing/2014/main" id="{C2F71A80-6851-06C5-E173-D2166AA34085}"/>
              </a:ext>
            </a:extLst>
          </p:cNvPr>
          <p:cNvSpPr txBox="1">
            <a:spLocks/>
          </p:cNvSpPr>
          <p:nvPr/>
        </p:nvSpPr>
        <p:spPr>
          <a:xfrm>
            <a:off x="1524259" y="4537468"/>
            <a:ext cx="839501" cy="4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下層</a:t>
            </a: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buFont typeface="Roboto"/>
              <a:buNone/>
            </a:pP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3" name="Google Shape;1328;p130">
            <a:extLst>
              <a:ext uri="{FF2B5EF4-FFF2-40B4-BE49-F238E27FC236}">
                <a16:creationId xmlns:a16="http://schemas.microsoft.com/office/drawing/2014/main" id="{6CC540DC-7231-FD5A-7272-3A0F8A72DB92}"/>
              </a:ext>
            </a:extLst>
          </p:cNvPr>
          <p:cNvSpPr txBox="1">
            <a:spLocks/>
          </p:cNvSpPr>
          <p:nvPr/>
        </p:nvSpPr>
        <p:spPr>
          <a:xfrm>
            <a:off x="1482829" y="192363"/>
            <a:ext cx="999280" cy="42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b="1" err="1">
                <a:solidFill>
                  <a:schemeClr val="bg2">
                    <a:lumMod val="50000"/>
                  </a:schemeClr>
                </a:solidFill>
                <a:latin typeface="+mn-lt"/>
              </a:rPr>
              <a:t>上層</a:t>
            </a: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marL="0" indent="0" algn="ctr">
              <a:lnSpc>
                <a:spcPct val="100000"/>
              </a:lnSpc>
              <a:buFont typeface="Roboto"/>
              <a:buNone/>
            </a:pPr>
            <a:endParaRPr lang="en-US" b="1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8038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>
          <a:extLst>
            <a:ext uri="{FF2B5EF4-FFF2-40B4-BE49-F238E27FC236}">
              <a16:creationId xmlns:a16="http://schemas.microsoft.com/office/drawing/2014/main" id="{7AFD806E-74B3-BAA0-F37C-41A59995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A2E7B5-F35F-F0B7-4A82-C98D6A3325F4}"/>
              </a:ext>
            </a:extLst>
          </p:cNvPr>
          <p:cNvSpPr/>
          <p:nvPr/>
        </p:nvSpPr>
        <p:spPr>
          <a:xfrm>
            <a:off x="-62345" y="-98027"/>
            <a:ext cx="9268690" cy="18168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01" name="Google Shape;1301;p126">
            <a:extLst>
              <a:ext uri="{FF2B5EF4-FFF2-40B4-BE49-F238E27FC236}">
                <a16:creationId xmlns:a16="http://schemas.microsoft.com/office/drawing/2014/main" id="{DB11F073-8BD6-F965-4FF0-D87713893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err="1"/>
              <a:t>今後の指針</a:t>
            </a:r>
            <a:endParaRPr sz="4000" b="1"/>
          </a:p>
        </p:txBody>
      </p:sp>
      <p:sp>
        <p:nvSpPr>
          <p:cNvPr id="2" name="Google Shape;1149;p102">
            <a:extLst>
              <a:ext uri="{FF2B5EF4-FFF2-40B4-BE49-F238E27FC236}">
                <a16:creationId xmlns:a16="http://schemas.microsoft.com/office/drawing/2014/main" id="{A5782FB3-72A9-4242-208A-FD8CBAADE00B}"/>
              </a:ext>
            </a:extLst>
          </p:cNvPr>
          <p:cNvSpPr txBox="1">
            <a:spLocks/>
          </p:cNvSpPr>
          <p:nvPr/>
        </p:nvSpPr>
        <p:spPr>
          <a:xfrm>
            <a:off x="586925" y="2219388"/>
            <a:ext cx="7922894" cy="2588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>
              <a:spcAft>
                <a:spcPts val="1600"/>
              </a:spcAft>
            </a:pPr>
            <a:r>
              <a:rPr lang="en-US" sz="22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カテゴリカルデータの数値化</a:t>
            </a:r>
            <a:r>
              <a:rPr lang="en-US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今週も少し触れた</a:t>
            </a:r>
            <a:r>
              <a:rPr lang="en-US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</a:p>
          <a:p>
            <a:pPr marL="342900">
              <a:spcAft>
                <a:spcPts val="1600"/>
              </a:spcAft>
            </a:pPr>
            <a:r>
              <a:rPr lang="en-US" sz="2200" b="1">
                <a:solidFill>
                  <a:srgbClr val="000000"/>
                </a:solidFill>
                <a:ea typeface="Arial"/>
                <a:cs typeface="Arial"/>
                <a:sym typeface="Arial"/>
              </a:rPr>
              <a:t>STL</a:t>
            </a:r>
            <a:r>
              <a:rPr lang="ja-JP" altLang="en-US" sz="2200" b="1">
                <a:solidFill>
                  <a:srgbClr val="000000"/>
                </a:solidFill>
                <a:ea typeface="Arial"/>
                <a:cs typeface="Arial"/>
                <a:sym typeface="Arial"/>
              </a:rPr>
              <a:t>分解</a:t>
            </a:r>
            <a:r>
              <a:rPr lang="en-US" altLang="ja-JP" sz="2200" b="1">
                <a:solidFill>
                  <a:srgbClr val="000000"/>
                </a:solidFill>
                <a:ea typeface="Arial"/>
                <a:cs typeface="Arial"/>
                <a:sym typeface="Arial"/>
              </a:rPr>
              <a:t>(</a:t>
            </a:r>
            <a:r>
              <a:rPr lang="ja-JP" altLang="en-US" sz="2200" b="1">
                <a:solidFill>
                  <a:srgbClr val="000000"/>
                </a:solidFill>
                <a:ea typeface="Arial"/>
                <a:cs typeface="Arial"/>
                <a:sym typeface="Arial"/>
              </a:rPr>
              <a:t>周期性のある時系列データ</a:t>
            </a:r>
            <a:r>
              <a:rPr lang="en-US" altLang="ja-JP" sz="2200" b="1">
                <a:solidFill>
                  <a:srgbClr val="000000"/>
                </a:solidFill>
                <a:ea typeface="Arial"/>
                <a:cs typeface="Arial"/>
                <a:sym typeface="Arial"/>
              </a:rPr>
              <a:t>)</a:t>
            </a:r>
            <a:endParaRPr lang="en" sz="2200" b="1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342900">
              <a:spcAft>
                <a:spcPts val="1600"/>
              </a:spcAft>
            </a:pPr>
            <a:r>
              <a:rPr lang="en" sz="2200" b="1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何らかの手法で機械学習後，LIMEで解釈</a:t>
            </a:r>
            <a:endParaRPr lang="en-US" sz="2200" b="1">
              <a:solidFill>
                <a:schemeClr val="accent4">
                  <a:lumMod val="10000"/>
                </a:schemeClr>
              </a:solidFill>
              <a:latin typeface="+mn-lt"/>
            </a:endParaRPr>
          </a:p>
          <a:p>
            <a:pPr marL="342900">
              <a:spcAft>
                <a:spcPts val="1600"/>
              </a:spcAft>
            </a:pPr>
            <a:r>
              <a:rPr lang="ja-JP" altLang="en-US" sz="2200" b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「書名」，「著作名」をセマンティックに解釈</a:t>
            </a:r>
          </a:p>
        </p:txBody>
      </p:sp>
    </p:spTree>
    <p:extLst>
      <p:ext uri="{BB962C8B-B14F-4D97-AF65-F5344CB8AC3E}">
        <p14:creationId xmlns:p14="http://schemas.microsoft.com/office/powerpoint/2010/main" val="312802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>
          <a:extLst>
            <a:ext uri="{FF2B5EF4-FFF2-40B4-BE49-F238E27FC236}">
              <a16:creationId xmlns:a16="http://schemas.microsoft.com/office/drawing/2014/main" id="{668D66B3-DAFE-E1B6-E7AA-6F81E1FE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9F1F58-7312-4BA6-3C46-D1BF0659EB00}"/>
              </a:ext>
            </a:extLst>
          </p:cNvPr>
          <p:cNvSpPr/>
          <p:nvPr/>
        </p:nvSpPr>
        <p:spPr>
          <a:xfrm>
            <a:off x="-62345" y="-98027"/>
            <a:ext cx="9268690" cy="181685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48" name="Google Shape;1148;p102">
            <a:extLst>
              <a:ext uri="{FF2B5EF4-FFF2-40B4-BE49-F238E27FC236}">
                <a16:creationId xmlns:a16="http://schemas.microsoft.com/office/drawing/2014/main" id="{5A2B7541-CC12-B4FE-6AD7-E6B28F168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925" y="5374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4000" b="1"/>
              <a:t>疑問点</a:t>
            </a:r>
            <a:endParaRPr sz="4000" b="1"/>
          </a:p>
        </p:txBody>
      </p:sp>
      <p:sp>
        <p:nvSpPr>
          <p:cNvPr id="1149" name="Google Shape;1149;p102">
            <a:extLst>
              <a:ext uri="{FF2B5EF4-FFF2-40B4-BE49-F238E27FC236}">
                <a16:creationId xmlns:a16="http://schemas.microsoft.com/office/drawing/2014/main" id="{C6DE76BB-61FB-8C43-B9D6-3D6984181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6925" y="2219388"/>
            <a:ext cx="7922894" cy="2588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600"/>
              </a:spcAft>
            </a:pPr>
            <a:r>
              <a:rPr 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</a:rPr>
              <a:t>機械学習する場合，何を目的変数とするか</a:t>
            </a:r>
            <a:r>
              <a:rPr 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(1日のデータ数？)</a:t>
            </a:r>
          </a:p>
          <a:p>
            <a:pPr marL="342900">
              <a:spcAft>
                <a:spcPts val="1600"/>
              </a:spcAft>
            </a:pPr>
            <a:r>
              <a:rPr 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</a:rPr>
              <a:t>最終的な到着地点</a:t>
            </a:r>
            <a:r>
              <a:rPr 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(</a:t>
            </a:r>
            <a:r>
              <a:rPr 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</a:rPr>
              <a:t>何をするために活動するか</a:t>
            </a:r>
            <a:r>
              <a:rPr 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)</a:t>
            </a:r>
          </a:p>
          <a:p>
            <a:pPr marL="0" indent="0">
              <a:spcAft>
                <a:spcPts val="1600"/>
              </a:spcAft>
              <a:buNone/>
            </a:pPr>
            <a:r>
              <a:rPr 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(</a:t>
            </a:r>
            <a:r>
              <a:rPr lang="en-US" sz="2200" b="1" err="1">
                <a:solidFill>
                  <a:schemeClr val="accent4">
                    <a:lumMod val="10000"/>
                  </a:schemeClr>
                </a:solidFill>
                <a:latin typeface="+mn-lt"/>
              </a:rPr>
              <a:t>クラスタリングしてクラスタごとの特徴を分析する</a:t>
            </a:r>
            <a:r>
              <a:rPr lang="en-US" sz="2200" b="1">
                <a:solidFill>
                  <a:schemeClr val="accent4">
                    <a:lumMod val="10000"/>
                  </a:schemeClr>
                </a:solidFill>
                <a:latin typeface="+mn-lt"/>
              </a:rPr>
              <a:t>？)</a:t>
            </a:r>
          </a:p>
        </p:txBody>
      </p:sp>
    </p:spTree>
    <p:extLst>
      <p:ext uri="{BB962C8B-B14F-4D97-AF65-F5344CB8AC3E}">
        <p14:creationId xmlns:p14="http://schemas.microsoft.com/office/powerpoint/2010/main" val="2876982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31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7708528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err="1"/>
              <a:t>Github</a:t>
            </a:r>
            <a:br>
              <a:rPr lang="en-US" sz="2400"/>
            </a:br>
            <a:r>
              <a:rPr lang="en-US" sz="2400"/>
              <a:t>https://</a:t>
            </a:r>
            <a:r>
              <a:rPr lang="en-US" sz="2400" err="1"/>
              <a:t>github.com</a:t>
            </a:r>
            <a:r>
              <a:rPr lang="en-US" sz="2400"/>
              <a:t>/</a:t>
            </a:r>
            <a:r>
              <a:rPr lang="en-US" sz="2400" err="1"/>
              <a:t>dmainf</a:t>
            </a:r>
            <a:r>
              <a:rPr lang="en-US" sz="2400"/>
              <a:t>/</a:t>
            </a:r>
            <a:r>
              <a:rPr lang="en-US" sz="2400" err="1"/>
              <a:t>data_comp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Microsoft Macintosh PowerPoint</Application>
  <PresentationFormat>On-screen Show (16:9)</PresentationFormat>
  <Paragraphs>251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Roboto</vt:lpstr>
      <vt:lpstr>Material</vt:lpstr>
      <vt:lpstr>データ解析コンペ経過発表 第1週</vt:lpstr>
      <vt:lpstr>目次</vt:lpstr>
      <vt:lpstr>データ概要</vt:lpstr>
      <vt:lpstr>日付</vt:lpstr>
      <vt:lpstr>PowerPoint Presentation</vt:lpstr>
      <vt:lpstr>ISBN</vt:lpstr>
      <vt:lpstr>ISBN</vt:lpstr>
      <vt:lpstr>ISBNに関する分析</vt:lpstr>
      <vt:lpstr>ISBNに関する今後の分析方針</vt:lpstr>
      <vt:lpstr>出版社</vt:lpstr>
      <vt:lpstr>出版社に関する分析</vt:lpstr>
      <vt:lpstr>出版社（正規化後）</vt:lpstr>
      <vt:lpstr>出版社に関する分析（正規化後）</vt:lpstr>
      <vt:lpstr>PowerPoint Presentation</vt:lpstr>
      <vt:lpstr>書名</vt:lpstr>
      <vt:lpstr>書名に関する分析</vt:lpstr>
      <vt:lpstr>書名(正規化後)</vt:lpstr>
      <vt:lpstr>PowerPoint Presentation</vt:lpstr>
      <vt:lpstr>著者名</vt:lpstr>
      <vt:lpstr>PowerPoint Presentation</vt:lpstr>
      <vt:lpstr>著者名(正規化後)</vt:lpstr>
      <vt:lpstr>PowerPoint Presentation</vt:lpstr>
      <vt:lpstr>著者名の欠損値に関する分析</vt:lpstr>
      <vt:lpstr>PowerPoint Presentation</vt:lpstr>
      <vt:lpstr>大分類・中分類・小分類</vt:lpstr>
      <vt:lpstr>大分類</vt:lpstr>
      <vt:lpstr>大分類に関する分析</vt:lpstr>
      <vt:lpstr>中分類</vt:lpstr>
      <vt:lpstr>中分類に関する分析</vt:lpstr>
      <vt:lpstr>PowerPoint Presentation</vt:lpstr>
      <vt:lpstr>小分類</vt:lpstr>
      <vt:lpstr>PowerPoint Presentation</vt:lpstr>
      <vt:lpstr>大分類、中分類、小分類の欠損値の分析</vt:lpstr>
      <vt:lpstr>本体価格</vt:lpstr>
      <vt:lpstr>PowerPoint Presentation</vt:lpstr>
      <vt:lpstr>POS販売冊数</vt:lpstr>
      <vt:lpstr>カラムの従属性</vt:lpstr>
      <vt:lpstr>PowerPoint Presentation</vt:lpstr>
      <vt:lpstr>今後の指針</vt:lpstr>
      <vt:lpstr>疑問点</vt:lpstr>
      <vt:lpstr>Github https://github.com/dmainf/data_comp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Shunsei NARAHARA</cp:lastModifiedBy>
  <cp:revision>2</cp:revision>
  <dcterms:modified xsi:type="dcterms:W3CDTF">2025-10-09T02:22:58Z</dcterms:modified>
</cp:coreProperties>
</file>